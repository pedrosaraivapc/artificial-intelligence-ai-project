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1"/>
  </p:notesMasterIdLst>
  <p:sldIdLst>
    <p:sldId id="256" r:id="rId2"/>
    <p:sldId id="273" r:id="rId3"/>
    <p:sldId id="260" r:id="rId4"/>
    <p:sldId id="259" r:id="rId5"/>
    <p:sldId id="266" r:id="rId6"/>
    <p:sldId id="274" r:id="rId7"/>
    <p:sldId id="257" r:id="rId8"/>
    <p:sldId id="262" r:id="rId9"/>
    <p:sldId id="263" r:id="rId10"/>
    <p:sldId id="264" r:id="rId11"/>
    <p:sldId id="265" r:id="rId12"/>
    <p:sldId id="275" r:id="rId13"/>
    <p:sldId id="27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3" autoAdjust="0"/>
    <p:restoredTop sz="78235" autoAdjust="0"/>
  </p:normalViewPr>
  <p:slideViewPr>
    <p:cSldViewPr snapToGrid="0">
      <p:cViewPr varScale="1">
        <p:scale>
          <a:sx n="71" d="100"/>
          <a:sy n="71" d="100"/>
        </p:scale>
        <p:origin x="97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03.111"/>
    </inkml:context>
    <inkml:brush xml:id="br0">
      <inkml:brushProperty name="width" value="0.035" units="cm"/>
      <inkml:brushProperty name="height" value="0.035" units="cm"/>
      <inkml:brushProperty name="color" value="#E6E3DF"/>
    </inkml:brush>
  </inkml:definitions>
  <inkml:trace contextRef="#ctx0" brushRef="#br0">141 9 24575,'1'34'0,"-1"0"0,-2-1 0,-2 1 0,-1 0 0,-17 60 0,-13 15 0,32-136 0,5 6 0,0 1 0,2 0 0,0 0 0,2 0 0,10-27 0,49-91 0,-35 79 0,-24 51 0,-2 8 0,0 21 0,-4 41 0,-1-55 0,-1 139 0,1-223 0,-2 69 0,-3 14 0,-5 18 0,2 7 0,1 0 0,-4 35 0,-11 43 0,19-102 0,2-8 0,-3-17 0,1-26 0,5-11 0,-1 42 0,0 38 0,0 98 0,-4-204 0,-21-122 0,18 182 0,7 21 0,-1 0 0,1 0 0,0 0 0,-1 0 0,1 0 0,0 0 0,0 0 0,-1 0 0,1 0 0,0 0 0,0 0 0,-1 0 0,1 1 0,0-1 0,-1 0 0,1 0 0,0 0 0,0 0 0,-1 0 0,1 1 0,0-1 0,0 0 0,0 0 0,-1 0 0,1 1 0,0-1 0,0 0 0,0 0 0,0 0 0,-1 1 0,1-1 0,0 0 0,0 0 0,0 1 0,0-1 0,0 0 0,0 1 0,-16 43 0,12-30 0,-13 36 0,8-29 0,1 0 0,2 0 0,0 1 0,1-1 0,-3 39 0,27-345 0,-10 322 0,-5-10 0,29 145 0,-32-170 0,1-7 0,0-19 0,0-35 0,-3-170 0,1 229 0,0 0 0,1-1 0,-1 1 0,0 0 0,0-1 0,0 1 0,0-1 0,0 1 0,0 0 0,0-1 0,0 1 0,0 0 0,0-1 0,0 1 0,0-1 0,0 1 0,0 0 0,0-1 0,0 1 0,0 0 0,0-1 0,-1 1 0,1 0 0,0-1 0,0 1 0,0 0 0,-1-1 0,1 1 0,0 0 0,0 0 0,-1-1 0,1 1 0,0 0 0,0 0 0,-1-1 0,-6 15 0,-9 35 0,15-45 0,-38 138 0,36-186 0,3 25 0,0 46 0,0-5 0,1-1 0,0 1 0,2-1 0,6 28 0,8-137 0,-16 81 0,3-17 0,1 21 0,3 14 0,4 14-682,16 46-1,-20-48-6143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07.426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4:25.192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350 101 24575,'-1'21'0,"-2"0"0,-1-1 0,0 0 0,-1 0 0,-2 0 0,-14 32 0,10-25 0,1 0 0,-10 48 0,17-62 0,1 2 0,0 1 0,-2-1 0,0 0 0,-1 0 0,-6 14 0,6-63 0,1-35 0,-8-203 0,12 262 0,0 5 0,1 0 0,-1 0 0,-1 0 0,1 0 0,-1 0 0,0 1 0,0-1 0,-3-9 0,4 14 0,0 0 0,-1 0 0,1 0 0,0 0 0,0 0 0,0 0 0,-1 0 0,1 0 0,0 0 0,0 0 0,0 0 0,-1 0 0,1 0 0,0 0 0,0 0 0,0 0 0,-1 0 0,1 0 0,0 1 0,0-1 0,0 0 0,0 0 0,-1 0 0,1 0 0,0 0 0,0 0 0,0 1 0,0-1 0,0 0 0,-1 0 0,1 0 0,0 1 0,0-1 0,0 0 0,0 0 0,0 0 0,0 1 0,0-1 0,0 0 0,0 0 0,0 0 0,0 1 0,0-1 0,0 0 0,0 0 0,0 0 0,0 1 0,0-1 0,0 0 0,0 0 0,0 0 0,0 1 0,0-1 0,-3 15 0,1 23 0,4 51 0,0-67 0,-1 1 0,-1 0 0,0 0 0,-2 0 0,-1 0 0,-10 39 0,13-62 0,0-1 0,0 1 0,0 0 0,0 0 0,0 0 0,0 0 0,0 0 0,0 0 0,0 0 0,0 0 0,0 0 0,-1 0 0,1-1 0,0 1 0,0 0 0,0 0 0,0 0 0,0 0 0,0 0 0,0 0 0,0 0 0,0 0 0,0 0 0,0 0 0,0 0 0,0 0 0,0 0 0,-1 0 0,1 0 0,0 0 0,0 0 0,0 0 0,0 0 0,0 0 0,0 0 0,0 0 0,0 0 0,0 0 0,0 0 0,-1 0 0,1 0 0,0 0 0,0 0 0,0 0 0,0 0 0,0 0 0,0 0 0,0 0 0,0 0 0,0 0 0,0 0 0,-1 0 0,1 0 0,0 0 0,0 0 0,0 0 0,0 0 0,0 0 0,0 0 0,0 0 0,0 1 0,0-1 0,0 0 0,-5-15 0,0-18 0,-3-300 0,-7 486 0,-3 58 0,17-53 0,7-284 0,5 1 0,34-153 0,-42 262 0,-3 22 0,-4 28 0,-92 479 0,103-642 0,40-282 0,-48 530 0,2-55 0,-2 269 0,1-333 0,0 0 0,0 0 0,-1 1 0,1-1 0,0 0 0,0 1 0,0-1 0,0 0 0,0 1 0,0-1 0,0 0 0,0 1 0,0-1 0,0 0 0,0 0 0,0 1 0,0-1 0,0 0 0,0 1 0,0-1 0,0 0 0,0 1 0,1-1 0,-1 0 0,0 0 0,0 1 0,0-1 0,0 0 0,1 0 0,-1 1 0,0-1 0,0 0 0,1 0 0,-1 0 0,0 1 0,0-1 0,1 0 0,-1 0 0,8-12 0,6-28 0,55-226 0,-7 18 0,-95 505 0,28-222 0,-1-1 0,-2 0 0,-1 0 0,-2-1 0,-24 51 0,34-83 0,1 0 0,0 0 0,-1 0 0,1 0 0,0 0 0,-1 0 0,1-1 0,-1 1 0,0 0 0,1 0 0,-1-1 0,1 1 0,-1-1 0,0 1 0,0 0 0,1-1 0,-1 1 0,0-1 0,0 1 0,0-1 0,0 0 0,1 1 0,-1-1 0,0 0 0,0 0 0,0 0 0,0 1 0,-1-1 0,0-1 0,1 0 0,0 1 0,-1-1 0,1 0 0,0 0 0,0 0 0,0 0 0,0 0 0,-1 0 0,1 0 0,1 0 0,-1 0 0,0 0 0,0-1 0,-1-1 0,-2-6 0,0-1 0,0 1 0,0-1 0,-1-9 0,-19-126 0,16 97 0,5 31 0,0 1 0,0-24 0,4 26 0,-1-20 0,0 32 0,0 1 0,0 0 0,0 0 0,0-1 0,0 1 0,-1 0 0,1 0 0,0-1 0,-1 1 0,1 0 0,-1 0 0,1 0 0,-1 0 0,0-1 0,0 1 0,1 0 0,-1 0 0,0 0 0,-1-1 0,1 2 0,0 0 0,0 0 0,1 0 0,-1 1 0,0-1 0,0 0 0,1 0 0,-1 0 0,0 1 0,0-1 0,1 0 0,-1 1 0,0-1 0,1 0 0,-1 1 0,0-1 0,1 1 0,-1-1 0,1 1 0,-1-1 0,1 1 0,-1 0 0,1-1 0,-1 1 0,1 0 0,-1-1 0,1 1 0,0 0 0,0-1 0,-1 1 0,1 0 0,0 0 0,0 1 0,-12 30 0,12-30 0,-11 45 0,8-33 0,0 0 0,0 0 0,-9 18 0,9-23 0,-1 1 0,2 0 0,-1 0 0,1-1 0,1 2 0,-1 13 0,4 66 0,0-32 0,-3 10 0,3 71 0,-2-136 0,0 0 0,1 0 0,-1 0 0,1 0 0,0 0 0,0-1 0,0 1 0,1 0 0,-1-1 0,0 1 0,1-1 0,0 1 0,-1-1 0,1 0 0,0 0 0,0 0 0,1 0 0,2 2 0,3 2 0,1-1 0,0 0 0,0-1 0,10 3 0,8 5 0,-23-11 0,-1 1 0,1 0 0,0-1 0,0 0 0,0 0 0,0 0 0,0 0 0,1-1 0,-1 1 0,0-1 0,0 0 0,0 0 0,0-1 0,1 1 0,-1-1 0,6-2 0,-5 1 0,-1 0 0,1-1 0,-1 1 0,1-1 0,-1 0 0,0-1 0,0 1 0,0-1 0,-1 1 0,1-1 0,-1 0 0,0-1 0,3-4 0,40-68 0,-2-3 0,44-119 0,-88 199 0,0-1 0,0 1 0,0-1 0,1 1 0,-1-1 0,0 1 0,0-1 0,0 1 0,1-1 0,-1 1 0,0-1 0,0 1 0,1-1 0,-1 1 0,0 0 0,1-1 0,-1 1 0,1-1 0,-1 1 0,0 0 0,1-1 0,-1 1 0,1 0 0,-1 0 0,1-1 0,-1 1 0,1 0 0,-1 0 0,1 0 0,7 12 0,0 26 0,-5 42 0,-3-75 0,0-17 0,0-10 0,-1-132 0,1 314 0,-1-154 0,-1-7 0,-5-14 0,-7-29 0,0-5 0,-32-132 0,46 180 0,0 1 0,0 0 0,0-1 0,0 1 0,0-1 0,0 1 0,0-1 0,0 1 0,0 0 0,0-1 0,0 1 0,0-1 0,0 1 0,-1 0 0,1-1 0,0 1 0,0-1 0,0 1 0,-1 0 0,1-1 0,0 1 0,0 0 0,-1 0 0,1-1 0,0 1 0,-1 0 0,1-1 0,0 1 0,-1 0 0,0-1 0,-5 14 0,-4 30 0,10-39 0,-11 57 0,-3 0 0,-34 92 0,42-143 0,2-14 0,1-21 0,2 21 0,-13-215 0,15 209 0,3 11 0,8 23 0,11 41 0,23 137 0,-46-202 0,0 0 0,-1 1 0,1-1 0,0 0 0,0 0 0,0 0 0,0 0 0,0 0 0,0 1 0,0-1 0,0 0 0,1 0 0,-1 0 0,0 0 0,0 0 0,0 1 0,0-1 0,0 0 0,0 0 0,0 0 0,0 0 0,0 0 0,0 1 0,0-1 0,0 0 0,1 0 0,-1 0 0,0 0 0,0 0 0,0 0 0,0 0 0,0 0 0,0 0 0,1 1 0,-1-1 0,0 0 0,0 0 0,0 0 0,0 0 0,1 0 0,-1 0 0,0 0 0,0 0 0,0 0 0,0 0 0,0 0 0,1 0 0,-1 0 0,0 0 0,0 0 0,0 0 0,0-1 0,1 1 0,5-10 0,3-19 0,-9 29 0,90-271 0,-89 269 0,-1 0 0,1-1 0,0 1 0,0 0 0,0-1 0,0 1 0,1 0 0,-1 0 0,0 0 0,1 0 0,0 0 0,-1 1 0,1-1 0,4-3 0,-6 5 0,1 0 0,0 0 0,-1 0 0,1 0 0,-1 0 0,1 0 0,0 0 0,-1 0 0,1 0 0,0 0 0,-1 0 0,1 0 0,-1 0 0,1 0 0,0 0 0,-1 1 0,1-1 0,-1 0 0,1 1 0,-1-1 0,2 1 0,14 18 0,-7 1 0,0-1 0,-1 1 0,10 40 0,5 15 0,-16-66 0,-3-15 0,1-30 0,-1 11 0,-2 31 0,0 0 0,-1 0 0,1 0 0,0 12 0,-3-53 0,-8-184 0,9 208 0,7 33 0,8 40 0,-13-52 0,-2-7 0,0 0 0,1 0 0,-1 0 0,1 0 0,0 0 0,0 0 0,0 0 0,0 0 0,0 0 0,3 4 0,-3-7 0,-1 0 0,0 0 0,1 0 0,-1 0 0,1 0 0,-1 0 0,0 0 0,1-1 0,-1 1 0,0 0 0,1 0 0,-1 0 0,1 0 0,-1 0 0,0-1 0,1 1 0,-1 0 0,0 0 0,0-1 0,1 1 0,-1 0 0,0 0 0,1-1 0,-1 1 0,0 0 0,0-1 0,0 1 0,1 0 0,-1-1 0,0 1 0,0-1 0,0 1 0,0 0 0,0-1 0,0 1 0,0 0 0,0-1 0,0 1 0,0-1 0,0 0 0,6-19 0,7-74 0,-8 174 0,-3-41 0,10 61 0,3-59 0,-15-40 0,0-1 0,0 1 0,0-1 0,1 1 0,-1-1 0,0 1 0,0-1 0,0 0 0,1 1 0,-1-1 0,0 1 0,1-1 0,-1 0 0,0 1 0,1-1 0,-1 0 0,0 0 0,1 1 0,-1-1 0,1 0 0,-1 0 0,1 1 0,-1-1 0,0 0 0,2 0 0,-2-1 0,1 0 0,-1 0 0,1 0 0,0 0 0,-1 0 0,0 0 0,1 0 0,-1-1 0,0 1 0,1 0 0,-1 0 0,0 0 0,0-1 0,0 1 0,-1-2 0,1-41 0,-12-80 0,10 114 0,-9-36 0,4 87 0,7 25-1365,0-48-5461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3T01:55:21.530"/>
    </inkml:context>
    <inkml:brush xml:id="br0">
      <inkml:brushProperty name="width" value="0.1" units="cm"/>
      <inkml:brushProperty name="height" value="0.1" units="cm"/>
      <inkml:brushProperty name="color" value="#E6E3DF"/>
    </inkml:brush>
  </inkml:definitions>
  <inkml:trace contextRef="#ctx0" brushRef="#br0">201 1 24575,'1'1'0,"-1"1"0,0-1 0,1 1 0,0-1 0,-1 1 0,1-1 0,0 1 0,0-1 0,0 0 0,0 1 0,0-1 0,0 0 0,0 0 0,0 1 0,0-1 0,1 0 0,0 0 0,30 20 0,-20-14 0,57 34 0,-69-41 0,0 0 0,1 0 0,-1 0 0,0 0 0,0 0 0,1 0 0,-1 0 0,0 0 0,0 0 0,0 1 0,1-1 0,-1 0 0,0 0 0,0 0 0,0 0 0,0 1 0,0-1 0,1 0 0,-1 0 0,0 0 0,0 1 0,0-1 0,0 0 0,0 0 0,0 0 0,0 1 0,0-1 0,0 0 0,0 0 0,0 1 0,0-1 0,0 0 0,0 0 0,0 0 0,0 1 0,0-1 0,0 0 0,-9 4 0,-19-2 0,27-2 0,-296 15 0,366-19 0,251-9 0,-26 13 0,-476 13 0,158-10 0,92-4 0,-23 2 0,58-7 0,106-38 0,-142 28 0,-36 13 0,-26 3 0,-12 0 0,-277 18 0,7 0 0,145-17 0,171-2 0,126 3 0,-143 0 0,0 1 0,0 0 0,0 2 0,-1 1 0,30 12 0,-31-11-151,1-1-1,0 0 0,0-2 0,1 0 1,-1-1-1,1-2 0,0 0 1,31-3-1,-37 2-6674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453D0C-6369-4F30-A663-82A0624E45D3}" type="datetimeFigureOut">
              <a:rPr lang="pt-PT" smtClean="0"/>
              <a:t>21/10/2025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6A2D6F-FCA9-46D3-B579-26C5C9C10BF7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29887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71160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662008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PT" sz="1200" b="1" dirty="0"/>
              <a:t>Pré-processamento: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PT" sz="1200" dirty="0"/>
              <a:t>Conjuntos de treino, validação e teste carregados automaticamente a partir das respetivas pastas.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PT" sz="1200" dirty="0"/>
              <a:t>Imagens redimensionadas para 128x128 e agrupadas em lotes (</a:t>
            </a:r>
            <a:r>
              <a:rPr lang="pt-PT" sz="1200" i="1" dirty="0" err="1"/>
              <a:t>batch</a:t>
            </a:r>
            <a:r>
              <a:rPr lang="pt-PT" sz="1200" i="1" dirty="0"/>
              <a:t> </a:t>
            </a:r>
            <a:r>
              <a:rPr lang="pt-PT" sz="1200" i="1" dirty="0" err="1"/>
              <a:t>size</a:t>
            </a:r>
            <a:r>
              <a:rPr lang="pt-PT" sz="1200" dirty="0"/>
              <a:t>) de 32.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PT" sz="1200" dirty="0" err="1"/>
              <a:t>Shuffle</a:t>
            </a:r>
            <a:r>
              <a:rPr lang="pt-PT" sz="1200" dirty="0"/>
              <a:t> aplicado </a:t>
            </a:r>
            <a:r>
              <a:rPr lang="pt-PT" sz="1200" dirty="0">
                <a:solidFill>
                  <a:srgbClr val="FF0000"/>
                </a:solidFill>
              </a:rPr>
              <a:t>no conjunto de treino para melhorar </a:t>
            </a:r>
            <a:r>
              <a:rPr lang="pt-PT" sz="1200" dirty="0"/>
              <a:t>a generalização do modelo.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pt-PT" sz="1200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pt-PT" sz="1200" dirty="0"/>
              <a:t># </a:t>
            </a:r>
            <a:r>
              <a:rPr lang="pt-PT" sz="1200" b="1" dirty="0"/>
              <a:t>d</a:t>
            </a:r>
            <a:r>
              <a:rPr lang="pt-PT" sz="1200" dirty="0"/>
              <a:t> é um </a:t>
            </a:r>
            <a:r>
              <a:rPr lang="pt-PT" sz="1200" b="1" dirty="0"/>
              <a:t>objeto do </a:t>
            </a:r>
            <a:r>
              <a:rPr lang="pt-PT" sz="1200" b="1" dirty="0" err="1"/>
              <a:t>Tensorflow</a:t>
            </a:r>
            <a:r>
              <a:rPr lang="pt-PT" sz="1200" b="1" dirty="0"/>
              <a:t> </a:t>
            </a:r>
            <a:r>
              <a:rPr lang="pt-PT" sz="1200" dirty="0"/>
              <a:t>(</a:t>
            </a:r>
            <a:r>
              <a:rPr lang="pt-PT" sz="1200" dirty="0" err="1"/>
              <a:t>tf.data.Dataset</a:t>
            </a:r>
            <a:r>
              <a:rPr lang="pt-PT" sz="1200" dirty="0"/>
              <a:t>) que contém 2 valores:</a:t>
            </a:r>
          </a:p>
          <a:p>
            <a:r>
              <a:rPr lang="pt-PT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</a:t>
            </a:r>
            <a:r>
              <a:rPr lang="pt-P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x</a:t>
            </a:r>
            <a:r>
              <a:rPr lang="pt-PT" dirty="0"/>
              <a:t> → é um </a:t>
            </a:r>
            <a:r>
              <a:rPr lang="pt-PT" i="1" dirty="0"/>
              <a:t>tensor</a:t>
            </a:r>
            <a:r>
              <a:rPr lang="pt-PT" dirty="0"/>
              <a:t> que contém as </a:t>
            </a:r>
            <a:r>
              <a:rPr lang="pt-PT" b="1" dirty="0"/>
              <a:t>imagens</a:t>
            </a:r>
            <a:r>
              <a:rPr lang="pt-PT" dirty="0"/>
              <a:t> (cada imagem é uma matriz multidimensional 128×128×3 onde cada valor é a cor RGB dos pixéis:“</a:t>
            </a:r>
            <a:r>
              <a:rPr lang="pt-PT" sz="1200" dirty="0"/>
              <a:t>[255, 0, 0]</a:t>
            </a:r>
            <a:r>
              <a:rPr lang="pt-PT" dirty="0"/>
              <a:t>”),</a:t>
            </a:r>
          </a:p>
          <a:p>
            <a:r>
              <a:rPr lang="pt-PT" sz="12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# </a:t>
            </a:r>
            <a:r>
              <a:rPr lang="pt-P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y</a:t>
            </a:r>
            <a:r>
              <a:rPr lang="pt-PT" dirty="0"/>
              <a:t> → é um </a:t>
            </a:r>
            <a:r>
              <a:rPr lang="pt-PT" i="1" dirty="0"/>
              <a:t>tensor</a:t>
            </a:r>
            <a:r>
              <a:rPr lang="pt-PT" dirty="0"/>
              <a:t> com as </a:t>
            </a:r>
            <a:r>
              <a:rPr lang="pt-PT" b="1" dirty="0" err="1"/>
              <a:t>labels</a:t>
            </a:r>
            <a:r>
              <a:rPr lang="pt-PT" b="1" dirty="0"/>
              <a:t> (classes)</a:t>
            </a:r>
            <a:r>
              <a:rPr lang="pt-PT" dirty="0"/>
              <a:t> correspondentes (em formato </a:t>
            </a:r>
            <a:r>
              <a:rPr lang="pt-PT" dirty="0" err="1"/>
              <a:t>One</a:t>
            </a:r>
            <a:r>
              <a:rPr lang="pt-PT" dirty="0"/>
              <a:t>-Hot (Ideal para classificação </a:t>
            </a:r>
            <a:r>
              <a:rPr lang="pt-PT" i="1" dirty="0" err="1"/>
              <a:t>multiclasse</a:t>
            </a:r>
            <a:r>
              <a:rPr lang="pt-PT" dirty="0"/>
              <a:t>) por causa do ‘</a:t>
            </a:r>
            <a:r>
              <a:rPr lang="pt-PT" dirty="0" err="1"/>
              <a:t>label_mode</a:t>
            </a:r>
            <a:r>
              <a:rPr lang="pt-PT" dirty="0"/>
              <a:t>="</a:t>
            </a:r>
            <a:r>
              <a:rPr lang="pt-PT" dirty="0" err="1"/>
              <a:t>categorical</a:t>
            </a:r>
            <a:r>
              <a:rPr lang="pt-PT" dirty="0"/>
              <a:t>“’ -&gt; </a:t>
            </a:r>
            <a:r>
              <a:rPr lang="pt-PT" sz="1200" dirty="0"/>
              <a:t>[1,0,0,0,0] cada coluna é 1 classe, neste caso ‘</a:t>
            </a:r>
            <a:r>
              <a:rPr lang="pt-PT" sz="1200" dirty="0" err="1"/>
              <a:t>convertible</a:t>
            </a:r>
            <a:r>
              <a:rPr lang="pt-PT" sz="1200" dirty="0"/>
              <a:t>’</a:t>
            </a:r>
            <a:r>
              <a:rPr lang="pt-PT" dirty="0"/>
              <a:t>).</a:t>
            </a:r>
          </a:p>
          <a:p>
            <a:pPr algn="just"/>
            <a:endParaRPr lang="pt-PT" sz="1200" dirty="0"/>
          </a:p>
          <a:p>
            <a:pPr marL="0" indent="0" algn="just">
              <a:buNone/>
            </a:pPr>
            <a:r>
              <a:rPr lang="pt-PT" sz="1200" b="1" dirty="0"/>
              <a:t>Normalização: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PT" sz="1200" dirty="0" err="1"/>
              <a:t>Pixeis</a:t>
            </a:r>
            <a:r>
              <a:rPr lang="pt-PT" sz="1200" dirty="0"/>
              <a:t> convertidos para float32 e normalizados para o intervalo [0.0,1.0] (/255.0) para melhorar o treino da rede neuronal.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pt-PT" sz="1200" dirty="0" err="1"/>
              <a:t>Prefetch</a:t>
            </a:r>
            <a:r>
              <a:rPr lang="pt-PT" sz="1200" dirty="0"/>
              <a:t>(AUTOTUNE) para acelerar o treino (enquanto o modelo está a treinar um lote de imagens, o próximo lote já vai sendo carregado).</a:t>
            </a:r>
          </a:p>
          <a:p>
            <a:pPr marL="0" indent="0" algn="just">
              <a:buFont typeface="Arial" panose="020B0604020202020204" pitchFamily="34" charset="0"/>
              <a:buNone/>
            </a:pPr>
            <a:endParaRPr lang="pt-PT" sz="1200" dirty="0"/>
          </a:p>
          <a:p>
            <a:pPr marL="0" indent="0" algn="just">
              <a:buFont typeface="Arial" panose="020B0604020202020204" pitchFamily="34" charset="0"/>
              <a:buNone/>
            </a:pPr>
            <a:r>
              <a:rPr lang="pt-PT" sz="1200" dirty="0"/>
              <a:t># </a:t>
            </a:r>
            <a:r>
              <a:rPr lang="pt-PT" sz="1200" b="1" dirty="0" err="1"/>
              <a:t>map</a:t>
            </a:r>
            <a:r>
              <a:rPr lang="pt-PT" sz="1200" b="1" dirty="0"/>
              <a:t> </a:t>
            </a:r>
            <a:r>
              <a:rPr lang="pt-PT" sz="1200" b="0" dirty="0"/>
              <a:t>o que faz é: </a:t>
            </a:r>
            <a:r>
              <a:rPr lang="pt-PT" dirty="0"/>
              <a:t>para cada elemento do </a:t>
            </a:r>
            <a:r>
              <a:rPr lang="pt-PT" b="1" dirty="0" err="1"/>
              <a:t>dataset</a:t>
            </a:r>
            <a:r>
              <a:rPr lang="pt-PT" b="1" dirty="0"/>
              <a:t> </a:t>
            </a:r>
            <a:r>
              <a:rPr lang="pt-P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</a:t>
            </a:r>
            <a:r>
              <a:rPr lang="pt-PT" dirty="0"/>
              <a:t> (que é um par </a:t>
            </a:r>
            <a: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(x, y)</a:t>
            </a:r>
            <a:r>
              <a:rPr lang="pt-PT" dirty="0"/>
              <a:t>), aplica a função (que neste caso é </a:t>
            </a:r>
            <a:r>
              <a:rPr lang="pt-PT" b="1" dirty="0"/>
              <a:t>lambda</a:t>
            </a:r>
            <a:r>
              <a:rPr lang="pt-PT" dirty="0"/>
              <a:t> -&gt; uma função anónima (sem nome))</a:t>
            </a:r>
            <a:endParaRPr lang="pt-PT" sz="1200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80874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PT" sz="1200" dirty="0"/>
              <a:t>Este modelo tem a seguinte estrutura sequencial simples:</a:t>
            </a:r>
          </a:p>
          <a:p>
            <a:pPr lvl="0" algn="just"/>
            <a:r>
              <a:rPr lang="pt-PT" sz="1200" b="1" dirty="0"/>
              <a:t>Entrada (Input)</a:t>
            </a:r>
            <a:r>
              <a:rPr lang="pt-PT" sz="1200" dirty="0"/>
              <a:t>: </a:t>
            </a:r>
            <a:r>
              <a:rPr lang="pt-PT" sz="1200" b="1" dirty="0"/>
              <a:t>camada de input </a:t>
            </a:r>
            <a:r>
              <a:rPr lang="pt-PT" sz="1200" dirty="0"/>
              <a:t>que define o formato das imagens (128 x 128 x 3) – 128 por 128 </a:t>
            </a:r>
            <a:r>
              <a:rPr lang="pt-PT" sz="1200" dirty="0" err="1"/>
              <a:t>pixeis</a:t>
            </a:r>
            <a:r>
              <a:rPr lang="pt-PT" sz="1200" dirty="0"/>
              <a:t>, 3 canais RGB;</a:t>
            </a:r>
          </a:p>
          <a:p>
            <a:pPr lvl="0" algn="just"/>
            <a:r>
              <a:rPr lang="pt-PT" sz="1200" b="1" dirty="0"/>
              <a:t>Conv2D</a:t>
            </a:r>
            <a:r>
              <a:rPr lang="pt-PT" sz="1200" dirty="0"/>
              <a:t> </a:t>
            </a:r>
            <a:r>
              <a:rPr lang="pt-PT" sz="1200" b="1" dirty="0"/>
              <a:t>-</a:t>
            </a:r>
            <a:r>
              <a:rPr lang="pt-PT" sz="1200" dirty="0"/>
              <a:t> </a:t>
            </a:r>
            <a:r>
              <a:rPr lang="pt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camada </a:t>
            </a:r>
            <a:r>
              <a:rPr lang="pt-P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convolucional</a:t>
            </a:r>
            <a:r>
              <a:rPr lang="pt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32 filtros</a:t>
            </a: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pt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 um de tamanho 3×3 </a:t>
            </a:r>
            <a:r>
              <a:rPr lang="pt-P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píxeis</a:t>
            </a:r>
            <a:r>
              <a:rPr lang="pt-PT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F</a:t>
            </a:r>
            <a:r>
              <a:rPr lang="pt-PT" sz="1200" dirty="0"/>
              <a:t>unção de ativação </a:t>
            </a:r>
            <a:r>
              <a:rPr lang="pt-PT" sz="1200" dirty="0" err="1"/>
              <a:t>ReLU</a:t>
            </a:r>
            <a:r>
              <a:rPr lang="pt-PT" sz="1200" dirty="0"/>
              <a:t> → extrai padrões locais iniciais;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PT" sz="1200" b="1" dirty="0"/>
              <a:t>MaxPooling2D 4×4 -</a:t>
            </a:r>
            <a:r>
              <a:rPr lang="pt-PT" sz="1200" dirty="0"/>
              <a:t> </a:t>
            </a:r>
            <a:r>
              <a:rPr lang="pt-PT" dirty="0"/>
              <a:t>reduz </a:t>
            </a:r>
            <a: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dimensionalidade espacial da imagem ao selecionar o valor máximo dentro de cada bloco 4×4 </a:t>
            </a:r>
            <a:r>
              <a:rPr lang="pt-PT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píxeis</a:t>
            </a:r>
            <a: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b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pt-PT" dirty="0"/>
              <a:t>Isto mantém as características mais relevantes, reduz o número de parâmetros e ajuda a prevenir </a:t>
            </a:r>
            <a:r>
              <a:rPr lang="pt-PT" i="1" dirty="0" err="1"/>
              <a:t>overfitting</a:t>
            </a:r>
            <a:r>
              <a:rPr lang="pt-PT" dirty="0"/>
              <a:t>.</a:t>
            </a:r>
            <a:r>
              <a:rPr lang="pt-PT" sz="1200" dirty="0"/>
              <a:t>;</a:t>
            </a:r>
          </a:p>
          <a:p>
            <a:pPr lvl="0" algn="just"/>
            <a:r>
              <a:rPr lang="pt-PT" sz="1200" b="1" dirty="0"/>
              <a:t>Conv2D</a:t>
            </a:r>
            <a:r>
              <a:rPr lang="pt-PT" sz="1200" dirty="0"/>
              <a:t> </a:t>
            </a:r>
            <a:r>
              <a:rPr lang="pt-PT" sz="1200" b="1" dirty="0"/>
              <a:t>- </a:t>
            </a:r>
            <a:r>
              <a:rPr lang="pt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camada </a:t>
            </a:r>
            <a:r>
              <a:rPr lang="pt-P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convolucional</a:t>
            </a:r>
            <a:r>
              <a:rPr lang="pt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PT" sz="1200" b="1" dirty="0"/>
              <a:t>com 64 filtros</a:t>
            </a:r>
            <a:r>
              <a:rPr lang="pt-PT" sz="1200" dirty="0"/>
              <a:t>, </a:t>
            </a:r>
            <a:r>
              <a:rPr lang="pt-PT" sz="1200" b="1" dirty="0"/>
              <a:t>3×3 </a:t>
            </a:r>
            <a:r>
              <a:rPr lang="pt-PT" sz="1200" b="1" dirty="0" err="1"/>
              <a:t>píxeis</a:t>
            </a:r>
            <a:r>
              <a:rPr lang="pt-PT" sz="1200" dirty="0"/>
              <a:t>, função de ativação </a:t>
            </a:r>
            <a:r>
              <a:rPr lang="pt-PT" sz="1200" dirty="0" err="1"/>
              <a:t>ReLU</a:t>
            </a:r>
            <a:r>
              <a:rPr lang="pt-PT" sz="1200" dirty="0"/>
              <a:t> → capta padrões intermédios;</a:t>
            </a:r>
          </a:p>
          <a:p>
            <a:pPr lvl="0" algn="just"/>
            <a:r>
              <a:rPr lang="pt-PT" sz="1200" b="1" dirty="0"/>
              <a:t>MaxPooling2D 4×4 – </a:t>
            </a:r>
            <a:r>
              <a:rPr lang="pt-PT" dirty="0"/>
              <a:t>aplica novamente a redução espacial, simplificando a representação e tornando o modelo mais eficiente</a:t>
            </a:r>
            <a:r>
              <a:rPr lang="pt-PT" sz="1200" dirty="0"/>
              <a:t>.</a:t>
            </a:r>
          </a:p>
          <a:p>
            <a:pPr lvl="0" algn="just"/>
            <a:r>
              <a:rPr lang="pt-PT" sz="1200" b="1" dirty="0"/>
              <a:t>Conv2D</a:t>
            </a:r>
            <a:r>
              <a:rPr lang="pt-PT" sz="1200" dirty="0"/>
              <a:t> </a:t>
            </a:r>
            <a:r>
              <a:rPr lang="pt-PT" sz="1200" b="1" dirty="0"/>
              <a:t>- </a:t>
            </a:r>
            <a:r>
              <a:rPr lang="pt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camada </a:t>
            </a:r>
            <a:r>
              <a:rPr lang="pt-PT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convolucional</a:t>
            </a:r>
            <a:r>
              <a:rPr lang="pt-PT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PT" sz="1200" b="1" dirty="0"/>
              <a:t>com 128 filtros</a:t>
            </a:r>
            <a:r>
              <a:rPr lang="pt-PT" sz="1200" dirty="0"/>
              <a:t>, </a:t>
            </a:r>
            <a:r>
              <a:rPr lang="pt-PT" sz="1200" b="1" dirty="0"/>
              <a:t>3×3 </a:t>
            </a:r>
            <a:r>
              <a:rPr lang="pt-PT" sz="1200" b="1" dirty="0" err="1"/>
              <a:t>píxeis</a:t>
            </a:r>
            <a:r>
              <a:rPr lang="pt-PT" sz="1200" dirty="0"/>
              <a:t>, função de ativação </a:t>
            </a:r>
            <a:r>
              <a:rPr lang="pt-PT" sz="1200" dirty="0" err="1"/>
              <a:t>ReLU</a:t>
            </a:r>
            <a:r>
              <a:rPr lang="pt-PT" sz="1200" dirty="0"/>
              <a:t> → aprende padrões de maior nível (formas/contornos característicos).</a:t>
            </a:r>
          </a:p>
          <a:p>
            <a:pPr lvl="0" algn="just"/>
            <a:r>
              <a:rPr lang="pt-PT" sz="1200" b="1" dirty="0"/>
              <a:t>GlobalAveragePooling2D – </a:t>
            </a:r>
            <a:r>
              <a:rPr lang="pt-PT" sz="1200" dirty="0"/>
              <a:t>Melhora a generalização</a:t>
            </a:r>
          </a:p>
          <a:p>
            <a:pPr lvl="0" algn="just"/>
            <a:r>
              <a:rPr lang="pt-PT" sz="1200" b="1" dirty="0" err="1"/>
              <a:t>Dropout</a:t>
            </a:r>
            <a:r>
              <a:rPr lang="pt-PT" sz="1200" b="1" dirty="0"/>
              <a:t> (0.5)</a:t>
            </a:r>
            <a:r>
              <a:rPr lang="pt-PT" sz="1200" dirty="0"/>
              <a:t>: Desativa aleatoriamente 50% dos filtros durante o treino para regularização e diminuição de </a:t>
            </a:r>
            <a:r>
              <a:rPr lang="pt-PT" sz="1200" dirty="0" err="1"/>
              <a:t>overfitting</a:t>
            </a:r>
            <a:r>
              <a:rPr lang="pt-PT" sz="1200" dirty="0"/>
              <a:t>.</a:t>
            </a:r>
          </a:p>
          <a:p>
            <a:pPr lvl="0" algn="just"/>
            <a:r>
              <a:rPr lang="pt-PT" sz="1200" b="1" dirty="0"/>
              <a:t>Dense </a:t>
            </a:r>
            <a:r>
              <a:rPr lang="pt-PT" sz="1200" dirty="0"/>
              <a:t>(5, função de ativação </a:t>
            </a:r>
            <a:r>
              <a:rPr lang="pt-PT" sz="1200" dirty="0" err="1"/>
              <a:t>Softmax</a:t>
            </a:r>
            <a:r>
              <a:rPr lang="pt-PT" sz="1200" dirty="0"/>
              <a:t>) → produz probabilidades para as 5 classes.</a:t>
            </a:r>
          </a:p>
          <a:p>
            <a:pPr lvl="0" algn="just"/>
            <a:endParaRPr lang="pt-PT" sz="1200" dirty="0"/>
          </a:p>
          <a:p>
            <a:r>
              <a:rPr lang="pt-PT" dirty="0"/>
              <a:t>Pensa assim:</a:t>
            </a:r>
          </a:p>
          <a:p>
            <a:r>
              <a:rPr lang="pt-PT" dirty="0"/>
              <a:t>As camadas com </a:t>
            </a:r>
            <a:r>
              <a:rPr lang="pt-PT" b="1" dirty="0" err="1"/>
              <a:t>ReLU</a:t>
            </a:r>
            <a:r>
              <a:rPr lang="pt-PT" dirty="0"/>
              <a:t> aprendem a </a:t>
            </a:r>
            <a:r>
              <a:rPr lang="pt-PT" b="1" dirty="0"/>
              <a:t>extrair e combinar características</a:t>
            </a:r>
            <a:r>
              <a:rPr lang="pt-PT" dirty="0"/>
              <a:t> das imagens.</a:t>
            </a:r>
          </a:p>
          <a:p>
            <a:r>
              <a:rPr lang="pt-PT" dirty="0"/>
              <a:t>A última camada com </a:t>
            </a:r>
            <a:r>
              <a:rPr lang="pt-PT" b="1" dirty="0" err="1"/>
              <a:t>Softmax</a:t>
            </a:r>
            <a:r>
              <a:rPr lang="pt-PT" dirty="0"/>
              <a:t> usa essas características para </a:t>
            </a:r>
            <a:r>
              <a:rPr lang="pt-PT" b="1" dirty="0"/>
              <a:t>tomar a decisão final</a:t>
            </a:r>
            <a:r>
              <a:rPr lang="pt-PT" dirty="0"/>
              <a:t>, convertendo tudo em </a:t>
            </a:r>
            <a:r>
              <a:rPr lang="pt-PT" b="1" dirty="0"/>
              <a:t>probabilidades de classe</a:t>
            </a:r>
            <a:r>
              <a:rPr lang="pt-PT" dirty="0"/>
              <a:t>.</a:t>
            </a:r>
          </a:p>
          <a:p>
            <a:r>
              <a:rPr lang="pt-PT" dirty="0"/>
              <a:t>Se usasses </a:t>
            </a:r>
            <a:r>
              <a:rPr lang="pt-PT" dirty="0" err="1"/>
              <a:t>Softmax</a:t>
            </a:r>
            <a:r>
              <a:rPr lang="pt-PT" dirty="0"/>
              <a:t> nas camadas do meio, o modelo </a:t>
            </a:r>
            <a:r>
              <a:rPr lang="pt-PT" b="1" dirty="0"/>
              <a:t>não aprenderia padrões</a:t>
            </a:r>
            <a:r>
              <a:rPr lang="pt-PT" dirty="0"/>
              <a:t>, porque a </a:t>
            </a:r>
            <a:r>
              <a:rPr lang="pt-PT" dirty="0" err="1"/>
              <a:t>Softmax</a:t>
            </a:r>
            <a:r>
              <a:rPr lang="pt-PT" dirty="0"/>
              <a:t> </a:t>
            </a:r>
            <a:r>
              <a:rPr lang="pt-PT" b="1" dirty="0"/>
              <a:t>força tudo a parecer uma decisão final</a:t>
            </a:r>
            <a:r>
              <a:rPr lang="pt-PT" dirty="0"/>
              <a:t> (soma = 1).</a:t>
            </a:r>
          </a:p>
          <a:p>
            <a:pPr lvl="0" algn="just"/>
            <a:endParaRPr lang="pt-PT" sz="1200" dirty="0"/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9374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pt-PT" sz="1200" dirty="0"/>
              <a:t>O modelo tem também uma estrutura sequencial simples:</a:t>
            </a:r>
          </a:p>
          <a:p>
            <a:pPr marL="171450" lvl="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PT" sz="1200" b="1" dirty="0"/>
              <a:t>Entrada (Input)</a:t>
            </a:r>
            <a:r>
              <a:rPr lang="pt-PT" sz="1200" dirty="0"/>
              <a:t>: (128 × 128 × 3) - 128 por 128 </a:t>
            </a:r>
            <a:r>
              <a:rPr lang="pt-PT" sz="1200" dirty="0" err="1"/>
              <a:t>píxeis</a:t>
            </a:r>
            <a:r>
              <a:rPr lang="pt-PT" sz="1200" dirty="0"/>
              <a:t>, 3 canais RGB;</a:t>
            </a:r>
          </a:p>
          <a:p>
            <a:pPr marL="171450" lvl="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PT" sz="1200" b="1" dirty="0" err="1"/>
              <a:t>Flatten</a:t>
            </a:r>
            <a:r>
              <a:rPr lang="pt-PT" sz="1200" dirty="0"/>
              <a:t>: transforma a imagem numa única vetor de 49 152 características (128×128×3);</a:t>
            </a:r>
          </a:p>
          <a:p>
            <a:pPr marL="171450" lvl="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PT" sz="1200" b="1" dirty="0"/>
              <a:t>Dense(32, </a:t>
            </a:r>
            <a:r>
              <a:rPr lang="pt-PT" sz="1200" b="1" dirty="0" err="1"/>
              <a:t>ReLU</a:t>
            </a:r>
            <a:r>
              <a:rPr lang="pt-PT" sz="1200" b="1" dirty="0"/>
              <a:t>) </a:t>
            </a:r>
            <a:r>
              <a:rPr lang="pt-PT" sz="1200" dirty="0"/>
              <a:t>→ </a:t>
            </a:r>
            <a:r>
              <a:rPr lang="pt-PT" dirty="0"/>
              <a:t>camada densa com </a:t>
            </a:r>
            <a:r>
              <a:rPr lang="pt-PT" b="1" dirty="0"/>
              <a:t>32 neurónios</a:t>
            </a:r>
            <a:r>
              <a:rPr lang="pt-PT" dirty="0"/>
              <a:t>, responsável por aprender </a:t>
            </a:r>
            <a:r>
              <a:rPr lang="pt-PT" b="1" dirty="0"/>
              <a:t>combinações lineares simples </a:t>
            </a:r>
            <a:r>
              <a:rPr lang="pt-PT" dirty="0"/>
              <a:t>das entradas;</a:t>
            </a:r>
            <a:endParaRPr lang="pt-PT" sz="1200" dirty="0"/>
          </a:p>
          <a:p>
            <a:pPr marL="171450" lvl="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PT" sz="1200" b="1" dirty="0" err="1"/>
              <a:t>BatchNormalization</a:t>
            </a:r>
            <a:r>
              <a:rPr lang="pt-PT" sz="1200" b="1" dirty="0"/>
              <a:t>()</a:t>
            </a:r>
            <a:r>
              <a:rPr lang="pt-PT" sz="1200" dirty="0"/>
              <a:t> → estabiliza a distribuição das ativações, acelera e estabiliza o treino;</a:t>
            </a:r>
          </a:p>
          <a:p>
            <a:pPr marL="171450" marR="0" lvl="0" indent="-1714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pt-PT" sz="1200" b="1" dirty="0"/>
              <a:t>Dense(64, </a:t>
            </a:r>
            <a:r>
              <a:rPr lang="pt-PT" sz="1200" b="1" dirty="0" err="1"/>
              <a:t>ReLU</a:t>
            </a:r>
            <a:r>
              <a:rPr lang="pt-PT" sz="1200" b="1" dirty="0"/>
              <a:t>) </a:t>
            </a:r>
            <a:r>
              <a:rPr lang="pt-PT" sz="1200" dirty="0"/>
              <a:t>→ </a:t>
            </a:r>
            <a:r>
              <a:rPr lang="pt-PT" dirty="0"/>
              <a:t>camada </a:t>
            </a:r>
            <a: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 </a:t>
            </a:r>
            <a:r>
              <a:rPr lang="pt-P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64 neurónios</a:t>
            </a:r>
            <a: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que aprende </a:t>
            </a:r>
            <a:r>
              <a:rPr lang="pt-PT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padrões intermédios </a:t>
            </a:r>
            <a:r>
              <a:rPr lang="pt-PT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 representações mais abstratas;</a:t>
            </a:r>
          </a:p>
          <a:p>
            <a:pPr marL="171450" lvl="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PT" sz="1200" b="1" dirty="0" err="1"/>
              <a:t>BatchNormalization</a:t>
            </a:r>
            <a:r>
              <a:rPr lang="pt-PT" sz="1200" b="1" dirty="0"/>
              <a:t>()</a:t>
            </a:r>
            <a:r>
              <a:rPr lang="pt-PT" sz="1200" dirty="0"/>
              <a:t>;</a:t>
            </a:r>
          </a:p>
          <a:p>
            <a:pPr marL="171450" lvl="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PT" sz="1200" b="1" dirty="0"/>
              <a:t>Dense(128, </a:t>
            </a:r>
            <a:r>
              <a:rPr lang="pt-PT" sz="1200" b="1" dirty="0" err="1"/>
              <a:t>ReLU</a:t>
            </a:r>
            <a:r>
              <a:rPr lang="pt-PT" sz="1200" b="1" dirty="0"/>
              <a:t>) </a:t>
            </a:r>
            <a:r>
              <a:rPr lang="pt-PT" sz="1200" dirty="0"/>
              <a:t>→ </a:t>
            </a:r>
            <a:r>
              <a:rPr lang="pt-PT" dirty="0"/>
              <a:t>camada com </a:t>
            </a:r>
            <a:r>
              <a:rPr lang="pt-PT" b="1" dirty="0"/>
              <a:t>128 neurónios</a:t>
            </a:r>
            <a:r>
              <a:rPr lang="pt-PT" dirty="0"/>
              <a:t>, com maior capacidade para </a:t>
            </a:r>
            <a:r>
              <a:rPr lang="pt-PT" b="1" dirty="0"/>
              <a:t>padrões de alto nível</a:t>
            </a:r>
            <a:r>
              <a:rPr lang="pt-PT" sz="1200" dirty="0"/>
              <a:t>;</a:t>
            </a:r>
          </a:p>
          <a:p>
            <a:pPr marL="171450" lvl="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PT" sz="1200" b="1" dirty="0" err="1"/>
              <a:t>BatchNormalization</a:t>
            </a:r>
            <a:r>
              <a:rPr lang="pt-PT" sz="1200" b="1" dirty="0"/>
              <a:t>()</a:t>
            </a:r>
            <a:r>
              <a:rPr lang="pt-PT" sz="1200" dirty="0"/>
              <a:t>;</a:t>
            </a:r>
          </a:p>
          <a:p>
            <a:pPr marL="171450" lvl="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PT" sz="1200" b="1" dirty="0" err="1"/>
              <a:t>Dropout</a:t>
            </a:r>
            <a:r>
              <a:rPr lang="pt-PT" sz="1200" b="1" dirty="0"/>
              <a:t> (0.5)</a:t>
            </a:r>
            <a:r>
              <a:rPr lang="pt-PT" sz="1200" dirty="0"/>
              <a:t>: Desativa aleatoriamente 50% dos neurónios durante o treino para regularização e diminuição de </a:t>
            </a:r>
            <a:r>
              <a:rPr lang="pt-PT" sz="1200" dirty="0" err="1"/>
              <a:t>overfitting</a:t>
            </a:r>
            <a:r>
              <a:rPr lang="pt-PT" sz="1200" dirty="0"/>
              <a:t>.</a:t>
            </a:r>
          </a:p>
          <a:p>
            <a:pPr marL="171450" lvl="0" indent="-1714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pt-PT" sz="1200" b="1" dirty="0"/>
              <a:t>Dense</a:t>
            </a:r>
            <a:r>
              <a:rPr lang="pt-PT" sz="1200" dirty="0"/>
              <a:t> (5, função de ativação </a:t>
            </a:r>
            <a:r>
              <a:rPr lang="pt-PT" sz="1200" dirty="0" err="1"/>
              <a:t>Softmax</a:t>
            </a:r>
            <a:r>
              <a:rPr lang="pt-PT" sz="1200" dirty="0"/>
              <a:t>) → produz probabilidades para as 5 classes.</a:t>
            </a:r>
          </a:p>
          <a:p>
            <a:endParaRPr lang="pt-PT" sz="1200" dirty="0"/>
          </a:p>
          <a:p>
            <a:r>
              <a:rPr lang="pt-PT" dirty="0"/>
              <a:t>Pensa assim:</a:t>
            </a:r>
          </a:p>
          <a:p>
            <a:r>
              <a:rPr lang="pt-PT" dirty="0"/>
              <a:t>As camadas com </a:t>
            </a:r>
            <a:r>
              <a:rPr lang="pt-PT" b="1" dirty="0" err="1"/>
              <a:t>ReLU</a:t>
            </a:r>
            <a:r>
              <a:rPr lang="pt-PT" dirty="0"/>
              <a:t> aprendem a </a:t>
            </a:r>
            <a:r>
              <a:rPr lang="pt-PT" b="1" dirty="0"/>
              <a:t>extrair e combinar características</a:t>
            </a:r>
            <a:r>
              <a:rPr lang="pt-PT" dirty="0"/>
              <a:t> das imagens.</a:t>
            </a:r>
          </a:p>
          <a:p>
            <a:r>
              <a:rPr lang="pt-PT" dirty="0"/>
              <a:t>A última camada com </a:t>
            </a:r>
            <a:r>
              <a:rPr lang="pt-PT" b="1" dirty="0" err="1"/>
              <a:t>Softmax</a:t>
            </a:r>
            <a:r>
              <a:rPr lang="pt-PT" dirty="0"/>
              <a:t> usa essas características para </a:t>
            </a:r>
            <a:r>
              <a:rPr lang="pt-PT" b="1" dirty="0"/>
              <a:t>tomar a decisão final</a:t>
            </a:r>
            <a:r>
              <a:rPr lang="pt-PT" dirty="0"/>
              <a:t>, convertendo tudo em </a:t>
            </a:r>
            <a:r>
              <a:rPr lang="pt-PT" b="1" dirty="0"/>
              <a:t>probabilidades de classe</a:t>
            </a:r>
            <a:r>
              <a:rPr lang="pt-PT" dirty="0"/>
              <a:t>.</a:t>
            </a:r>
          </a:p>
          <a:p>
            <a:r>
              <a:rPr lang="pt-PT" dirty="0"/>
              <a:t>Se usasses </a:t>
            </a:r>
            <a:r>
              <a:rPr lang="pt-PT" dirty="0" err="1"/>
              <a:t>Softmax</a:t>
            </a:r>
            <a:r>
              <a:rPr lang="pt-PT" dirty="0"/>
              <a:t> nas camadas do meio, o modelo </a:t>
            </a:r>
            <a:r>
              <a:rPr lang="pt-PT" b="1" dirty="0"/>
              <a:t>não aprenderia padrões</a:t>
            </a:r>
            <a:r>
              <a:rPr lang="pt-PT" dirty="0"/>
              <a:t>, porque a </a:t>
            </a:r>
            <a:r>
              <a:rPr lang="pt-PT" dirty="0" err="1"/>
              <a:t>Softmax</a:t>
            </a:r>
            <a:r>
              <a:rPr lang="pt-PT" dirty="0"/>
              <a:t> </a:t>
            </a:r>
            <a:r>
              <a:rPr lang="pt-PT" b="1" dirty="0"/>
              <a:t>força tudo a parecer uma decisão final</a:t>
            </a:r>
            <a:r>
              <a:rPr lang="pt-PT" dirty="0"/>
              <a:t> (soma = 1).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9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161192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pt-PT" dirty="0"/>
              <a:t>O modelo tem como otimizador e parâmetros de treino: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PT" b="1" dirty="0"/>
              <a:t>Otimizador</a:t>
            </a:r>
            <a:r>
              <a:rPr lang="pt-PT" dirty="0"/>
              <a:t>: Adam;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PT" b="1" dirty="0"/>
              <a:t>Função de perda</a:t>
            </a:r>
            <a:r>
              <a:rPr lang="pt-PT" dirty="0"/>
              <a:t>: </a:t>
            </a:r>
            <a:r>
              <a:rPr lang="pt-PT" i="1" dirty="0" err="1"/>
              <a:t>categorical_crossentropy</a:t>
            </a:r>
            <a:r>
              <a:rPr lang="pt-PT" dirty="0"/>
              <a:t>, pois as </a:t>
            </a:r>
            <a:r>
              <a:rPr lang="pt-PT" dirty="0" err="1"/>
              <a:t>labels</a:t>
            </a:r>
            <a:r>
              <a:rPr lang="pt-PT" dirty="0"/>
              <a:t> foram codificadas em formato </a:t>
            </a:r>
            <a:r>
              <a:rPr lang="pt-PT" dirty="0" err="1"/>
              <a:t>one</a:t>
            </a:r>
            <a:r>
              <a:rPr lang="pt-PT" dirty="0"/>
              <a:t>-hot (cada classe é representada por um vetor com 1 na posição correta e 0 nas outras, como a matriz de confusão só que com 0s e 1s);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PT" b="1" dirty="0"/>
              <a:t>Métrica</a:t>
            </a:r>
            <a:r>
              <a:rPr lang="pt-PT" dirty="0"/>
              <a:t>: </a:t>
            </a:r>
            <a:r>
              <a:rPr lang="pt-PT" dirty="0" err="1"/>
              <a:t>Accuracy</a:t>
            </a:r>
            <a:r>
              <a:rPr lang="pt-PT" dirty="0"/>
              <a:t>;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PT" b="1" dirty="0"/>
              <a:t>Épocas</a:t>
            </a:r>
            <a:r>
              <a:rPr lang="pt-PT" dirty="0"/>
              <a:t>: 100 (valor máximo definido, mas o treino pode parar antes devido ao </a:t>
            </a:r>
            <a:r>
              <a:rPr lang="pt-PT" dirty="0" err="1"/>
              <a:t>callback</a:t>
            </a:r>
            <a:r>
              <a:rPr lang="pt-PT" dirty="0"/>
              <a:t> </a:t>
            </a:r>
            <a:r>
              <a:rPr lang="pt-PT" dirty="0" err="1"/>
              <a:t>EarlyStopping</a:t>
            </a:r>
            <a:r>
              <a:rPr lang="pt-PT" dirty="0"/>
              <a:t>);</a:t>
            </a:r>
          </a:p>
          <a:p>
            <a:pPr marL="171450" lvl="0" indent="-171450" algn="just">
              <a:buFont typeface="Arial" panose="020B0604020202020204" pitchFamily="34" charset="0"/>
              <a:buChar char="•"/>
            </a:pPr>
            <a:r>
              <a:rPr lang="pt-PT" b="1" dirty="0" err="1"/>
              <a:t>Callback</a:t>
            </a:r>
            <a:r>
              <a:rPr lang="pt-PT" dirty="0"/>
              <a:t> </a:t>
            </a:r>
            <a:r>
              <a:rPr lang="pt-PT" b="1" dirty="0"/>
              <a:t>(</a:t>
            </a:r>
            <a:r>
              <a:rPr lang="pt-PT" b="1" i="1" dirty="0" err="1"/>
              <a:t>EarlyStopping</a:t>
            </a:r>
            <a:r>
              <a:rPr lang="pt-PT" b="1" dirty="0"/>
              <a:t>)</a:t>
            </a:r>
            <a:r>
              <a:rPr lang="pt-PT" dirty="0"/>
              <a:t>: monitoriza a </a:t>
            </a:r>
            <a:r>
              <a:rPr lang="pt-PT" dirty="0" err="1"/>
              <a:t>val_loss</a:t>
            </a:r>
            <a:r>
              <a:rPr lang="pt-PT" dirty="0"/>
              <a:t> e interrompe automaticamente o treino caso não haja melhoria durante x épocas consecutivas, restaurando os melhores pesos obtidos até ao momento. Este mecanismo evita </a:t>
            </a:r>
            <a:r>
              <a:rPr lang="pt-PT" dirty="0" err="1"/>
              <a:t>overfitting</a:t>
            </a:r>
            <a:r>
              <a:rPr lang="pt-PT" dirty="0"/>
              <a:t> e garante que o modelo final corresponde ao melhor desempenho obtido na fase de validação.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10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626380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AC453-13C4-42CB-EADB-698C6D97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D2C0F08E-0B31-2CE0-BF23-749920C9E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90870DE8-5AE1-EC47-0091-07903CDBA0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0A2ECDBE-7020-B3CA-8DF7-6C983751EB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232979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BA23E-D966-BABF-54EF-FC651DC0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>
            <a:extLst>
              <a:ext uri="{FF2B5EF4-FFF2-40B4-BE49-F238E27FC236}">
                <a16:creationId xmlns:a16="http://schemas.microsoft.com/office/drawing/2014/main" id="{E0AD0C87-073F-9B26-12C2-C32BE2CA27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>
            <a:extLst>
              <a:ext uri="{FF2B5EF4-FFF2-40B4-BE49-F238E27FC236}">
                <a16:creationId xmlns:a16="http://schemas.microsoft.com/office/drawing/2014/main" id="{B2948404-3F74-62B5-1251-D6B0C0417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 dirty="0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1BD851B-489C-6354-0C56-0E88971BC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13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26295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dirty="0"/>
              <a:t>Observa-se descida consistente da </a:t>
            </a:r>
            <a:r>
              <a:rPr lang="pt-PT" dirty="0" err="1"/>
              <a:t>loss</a:t>
            </a:r>
            <a:r>
              <a:rPr lang="pt-PT" dirty="0"/>
              <a:t> de treino e validação até ~época 25, seguida de melhoria mais lenta e estabilidade.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dirty="0"/>
              <a:t>A </a:t>
            </a:r>
            <a:r>
              <a:rPr lang="pt-PT" dirty="0" err="1"/>
              <a:t>accuracy</a:t>
            </a:r>
            <a:r>
              <a:rPr lang="pt-PT" dirty="0"/>
              <a:t> de validação acompanha a de treino com um gap moderado, o que indica boa generalização. O </a:t>
            </a:r>
            <a:r>
              <a:rPr lang="pt-PT" dirty="0" err="1"/>
              <a:t>EarlyStopping</a:t>
            </a:r>
            <a:r>
              <a:rPr lang="pt-PT" dirty="0"/>
              <a:t> interrompe por volta da época ~50 com restauração dos melhores pesos.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14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69663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 modelo CNN apresentou um bom desempenho geral, alcançando 66,2 % de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 conjunto de teste e um AUC de 0,89, o que demonstra uma boa capacidade de separação entre as diferentes classes.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partir da matriz de confusão, observa-se que as classes SUV e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Convertible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foram as mais corretamente classificadas.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Por outro lado, as classes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Coupe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Hatchback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Sedan continuam a apresentar maior confusão entre si.</a:t>
            </a:r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15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82187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dirty="0"/>
              <a:t>Observa-se uma redução contínua da </a:t>
            </a:r>
            <a:r>
              <a:rPr lang="pt-PT" dirty="0" err="1"/>
              <a:t>loss</a:t>
            </a:r>
            <a:r>
              <a:rPr lang="pt-PT" dirty="0"/>
              <a:t> no conjunto de treino, enquanto a </a:t>
            </a:r>
            <a:r>
              <a:rPr lang="pt-PT" dirty="0" err="1"/>
              <a:t>loss</a:t>
            </a:r>
            <a:r>
              <a:rPr lang="pt-PT" dirty="0"/>
              <a:t> de validação apresenta oscilações e tendência de aumento, evidenciando </a:t>
            </a:r>
            <a:r>
              <a:rPr lang="pt-PT" dirty="0" err="1"/>
              <a:t>overfitting</a:t>
            </a:r>
            <a:r>
              <a:rPr lang="pt-PT" dirty="0"/>
              <a:t> a partir das primeiras épocas.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dirty="0"/>
              <a:t>A </a:t>
            </a:r>
            <a:r>
              <a:rPr lang="pt-PT" dirty="0" err="1"/>
              <a:t>accuracy</a:t>
            </a:r>
            <a:r>
              <a:rPr lang="pt-PT" dirty="0"/>
              <a:t> de treino cresce de forma consistente, mas a </a:t>
            </a:r>
            <a:r>
              <a:rPr lang="pt-PT" dirty="0" err="1"/>
              <a:t>accuracy</a:t>
            </a:r>
            <a:r>
              <a:rPr lang="pt-PT" dirty="0"/>
              <a:t> de validação mantém-se estável e consideravelmente mais baixa, mostrando que o modelo tem dificuldade em generalizar para dados não vistos.</a:t>
            </a:r>
          </a:p>
          <a:p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16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344092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Imagem do Diapositivo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Posição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 modelo MLP obteve um desempenho inferior ao da CNN, alcançando 33,9 % de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accuracy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um AUC macro de 0,6631.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matriz de confusão revela um número elevado de erros e confusões entre quase todas as classes, especialmente entre Sedan,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Convertible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 </a:t>
            </a:r>
            <a:r>
              <a:rPr lang="pt-PT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Hatchback</a:t>
            </a: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PT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classes apresentam valores de F1-score bastante baixos, confirmando que a rede não consegue distinguir bem os padrões visuais complexos presentes nas imagens.</a:t>
            </a:r>
            <a:endParaRPr lang="pt-PT" dirty="0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6A2D6F-FCA9-46D3-B579-26C5C9C10BF7}" type="slidenum">
              <a:rPr lang="pt-PT" smtClean="0"/>
              <a:t>17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724518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pt-PT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PT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10/21/2025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3.png"/><Relationship Id="rId10" Type="http://schemas.openxmlformats.org/officeDocument/2006/relationships/image" Target="../media/image2.jpeg"/><Relationship Id="rId4" Type="http://schemas.openxmlformats.org/officeDocument/2006/relationships/customXml" Target="../ink/ink2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mayurmahurkar/stanford-car-body-type-data" TargetMode="External"/><Relationship Id="rId2" Type="http://schemas.openxmlformats.org/officeDocument/2006/relationships/hyperlink" Target="https://www.kaggle.com/datasets/ademboukhris/cars-body-type-cropped/data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7B8FF7-141C-620F-0B50-58211D04E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80" y="504222"/>
            <a:ext cx="8637073" cy="2541431"/>
          </a:xfrm>
        </p:spPr>
        <p:txBody>
          <a:bodyPr>
            <a:normAutofit fontScale="90000"/>
          </a:bodyPr>
          <a:lstStyle/>
          <a:p>
            <a:r>
              <a:rPr lang="pt-PT" dirty="0"/>
              <a:t>Classificação de carrocerias de automóveis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2045F1-CCC1-793D-C86B-A34B4693D8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pt-PT" dirty="0"/>
              <a:t>Meta 1 – Inteligência computacional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61D0CB3-C80A-0713-B9D4-351B5AF84D80}"/>
              </a:ext>
            </a:extLst>
          </p:cNvPr>
          <p:cNvSpPr txBox="1"/>
          <p:nvPr/>
        </p:nvSpPr>
        <p:spPr>
          <a:xfrm>
            <a:off x="9201393" y="5306007"/>
            <a:ext cx="2840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dirty="0"/>
              <a:t>Pedro Saraiva – 2023146226</a:t>
            </a:r>
          </a:p>
          <a:p>
            <a:r>
              <a:rPr lang="pt-PT" dirty="0"/>
              <a:t>Daniel Soares – 2023144661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Tinta 5">
                <a:extLst>
                  <a:ext uri="{FF2B5EF4-FFF2-40B4-BE49-F238E27FC236}">
                    <a16:creationId xmlns:a16="http://schemas.microsoft.com/office/drawing/2014/main" id="{8EFE34F5-2127-2785-207A-0B4329FC3DF4}"/>
                  </a:ext>
                </a:extLst>
              </p14:cNvPr>
              <p14:cNvContentPartPr/>
              <p14:nvPr/>
            </p14:nvContentPartPr>
            <p14:xfrm>
              <a:off x="7394931" y="3443091"/>
              <a:ext cx="77040" cy="159480"/>
            </p14:xfrm>
          </p:contentPart>
        </mc:Choice>
        <mc:Fallback xmlns="">
          <p:pic>
            <p:nvPicPr>
              <p:cNvPr id="6" name="Tinta 5">
                <a:extLst>
                  <a:ext uri="{FF2B5EF4-FFF2-40B4-BE49-F238E27FC236}">
                    <a16:creationId xmlns:a16="http://schemas.microsoft.com/office/drawing/2014/main" id="{8EFE34F5-2127-2785-207A-0B4329FC3D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88811" y="3436971"/>
                <a:ext cx="89280" cy="17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Tinta 6">
                <a:extLst>
                  <a:ext uri="{FF2B5EF4-FFF2-40B4-BE49-F238E27FC236}">
                    <a16:creationId xmlns:a16="http://schemas.microsoft.com/office/drawing/2014/main" id="{3D892BB8-4B98-1E0E-ED31-1A933708B6EC}"/>
                  </a:ext>
                </a:extLst>
              </p14:cNvPr>
              <p14:cNvContentPartPr/>
              <p14:nvPr/>
            </p14:nvContentPartPr>
            <p14:xfrm>
              <a:off x="7489251" y="3470811"/>
              <a:ext cx="360" cy="360"/>
            </p14:xfrm>
          </p:contentPart>
        </mc:Choice>
        <mc:Fallback xmlns="">
          <p:pic>
            <p:nvPicPr>
              <p:cNvPr id="7" name="Tinta 6">
                <a:extLst>
                  <a:ext uri="{FF2B5EF4-FFF2-40B4-BE49-F238E27FC236}">
                    <a16:creationId xmlns:a16="http://schemas.microsoft.com/office/drawing/2014/main" id="{3D892BB8-4B98-1E0E-ED31-1A933708B6E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471251" y="3452811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Tinta 11">
                <a:extLst>
                  <a:ext uri="{FF2B5EF4-FFF2-40B4-BE49-F238E27FC236}">
                    <a16:creationId xmlns:a16="http://schemas.microsoft.com/office/drawing/2014/main" id="{A9587F3E-0D5D-19FC-2C8A-07AB941DBB0E}"/>
                  </a:ext>
                </a:extLst>
              </p14:cNvPr>
              <p14:cNvContentPartPr/>
              <p14:nvPr/>
            </p14:nvContentPartPr>
            <p14:xfrm>
              <a:off x="7319691" y="3384771"/>
              <a:ext cx="249840" cy="297000"/>
            </p14:xfrm>
          </p:contentPart>
        </mc:Choice>
        <mc:Fallback xmlns="">
          <p:pic>
            <p:nvPicPr>
              <p:cNvPr id="12" name="Tinta 11">
                <a:extLst>
                  <a:ext uri="{FF2B5EF4-FFF2-40B4-BE49-F238E27FC236}">
                    <a16:creationId xmlns:a16="http://schemas.microsoft.com/office/drawing/2014/main" id="{A9587F3E-0D5D-19FC-2C8A-07AB941DBB0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302051" y="3366771"/>
                <a:ext cx="28548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5" name="Tinta 14">
                <a:extLst>
                  <a:ext uri="{FF2B5EF4-FFF2-40B4-BE49-F238E27FC236}">
                    <a16:creationId xmlns:a16="http://schemas.microsoft.com/office/drawing/2014/main" id="{629C08D0-C9E6-3F9F-5340-B1260176E39C}"/>
                  </a:ext>
                </a:extLst>
              </p14:cNvPr>
              <p14:cNvContentPartPr/>
              <p14:nvPr/>
            </p14:nvContentPartPr>
            <p14:xfrm>
              <a:off x="7528851" y="3489531"/>
              <a:ext cx="362160" cy="57240"/>
            </p14:xfrm>
          </p:contentPart>
        </mc:Choice>
        <mc:Fallback xmlns="">
          <p:pic>
            <p:nvPicPr>
              <p:cNvPr id="15" name="Tinta 14">
                <a:extLst>
                  <a:ext uri="{FF2B5EF4-FFF2-40B4-BE49-F238E27FC236}">
                    <a16:creationId xmlns:a16="http://schemas.microsoft.com/office/drawing/2014/main" id="{629C08D0-C9E6-3F9F-5340-B1260176E39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10851" y="3471891"/>
                <a:ext cx="397800" cy="9288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BD8C7F6E-BFB4-4267-77D9-348A5B1ADE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1690" y="2643449"/>
            <a:ext cx="4127329" cy="2076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2986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7EC94-5FF1-7B58-B42F-135E4E2C8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Objetivos</a:t>
            </a:r>
            <a:r>
              <a:rPr lang="en-US" dirty="0"/>
              <a:t> e </a:t>
            </a:r>
            <a:r>
              <a:rPr lang="pt-PT" noProof="0" dirty="0"/>
              <a:t>potenciais</a:t>
            </a:r>
            <a:r>
              <a:rPr lang="en-US" dirty="0"/>
              <a:t> </a:t>
            </a:r>
            <a:r>
              <a:rPr lang="en-US" dirty="0" err="1"/>
              <a:t>aplicações</a:t>
            </a:r>
            <a:r>
              <a:rPr lang="en-US" dirty="0"/>
              <a:t> reais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809EC1-A8EB-65FF-97CC-15493A1CB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pt-PT" b="1" dirty="0"/>
              <a:t>Gestão de estacionamentos </a:t>
            </a:r>
            <a:r>
              <a:rPr lang="pt-PT" dirty="0"/>
              <a:t>→ otimização das vagas e verificação automática se o tipo de veículo é permitido em determinado espaço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PT" b="1" dirty="0"/>
              <a:t>Seguros automóveis </a:t>
            </a:r>
            <a:r>
              <a:rPr lang="pt-PT" dirty="0"/>
              <a:t>→ identificação automática do tipo de carro em fotos enviadas por clientes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pt-PT" b="1" dirty="0"/>
              <a:t>Portagens inteligentes </a:t>
            </a:r>
            <a:r>
              <a:rPr lang="pt-PT" dirty="0"/>
              <a:t>→ deteção da categoria do veículo para cobrança automática do valor correto</a:t>
            </a:r>
            <a:endParaRPr lang="en-US" dirty="0"/>
          </a:p>
          <a:p>
            <a:pPr marL="457200" indent="-457200" algn="just">
              <a:buFont typeface="+mj-lt"/>
              <a:buAutoNum type="arabicPeriod"/>
            </a:pPr>
            <a:r>
              <a:rPr lang="en-US" b="1" dirty="0" err="1"/>
              <a:t>Controlo</a:t>
            </a:r>
            <a:r>
              <a:rPr lang="en-US" b="1" dirty="0"/>
              <a:t> de </a:t>
            </a:r>
            <a:r>
              <a:rPr lang="en-US" b="1" dirty="0" err="1"/>
              <a:t>acessos</a:t>
            </a:r>
            <a:r>
              <a:rPr lang="en-US" b="1" dirty="0"/>
              <a:t> no campus do ISEC </a:t>
            </a:r>
            <a:r>
              <a:rPr lang="pt-PT" dirty="0"/>
              <a:t>→ identificação automática do tipo de carro, para limitar o número de carros de cada categoria, </a:t>
            </a:r>
            <a:r>
              <a:rPr lang="pt-BR" dirty="0"/>
              <a:t>garantindo uma distribuição equilibrada no estacionamento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41814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AE05EF-B9E7-BAC1-2D0A-A03C9390B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Classes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C4A9291-FE03-4198-6D09-59822461D4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75" t="26438" r="6996" b="8932"/>
          <a:stretch>
            <a:fillRect/>
          </a:stretch>
        </p:blipFill>
        <p:spPr bwMode="auto">
          <a:xfrm>
            <a:off x="2040565" y="1944341"/>
            <a:ext cx="2320212" cy="116610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9435C8F-F39D-7156-2DA9-67ECE223445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40" t="21377" r="1425" b="7568"/>
          <a:stretch>
            <a:fillRect/>
          </a:stretch>
        </p:blipFill>
        <p:spPr bwMode="auto">
          <a:xfrm>
            <a:off x="4935894" y="1944341"/>
            <a:ext cx="2320212" cy="116135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C7E58987-B81E-604A-9429-76ECEB9321C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28" t="21577" b="6994"/>
          <a:stretch>
            <a:fillRect/>
          </a:stretch>
        </p:blipFill>
        <p:spPr bwMode="auto">
          <a:xfrm>
            <a:off x="7831223" y="1944341"/>
            <a:ext cx="2320212" cy="118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053F64F4-0CC6-75D3-AF34-FBF712BF8F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86" b="6973"/>
          <a:stretch>
            <a:fillRect/>
          </a:stretch>
        </p:blipFill>
        <p:spPr bwMode="auto">
          <a:xfrm>
            <a:off x="6358447" y="4002270"/>
            <a:ext cx="2320212" cy="118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3084" name="Picture 12">
            <a:extLst>
              <a:ext uri="{FF2B5EF4-FFF2-40B4-BE49-F238E27FC236}">
                <a16:creationId xmlns:a16="http://schemas.microsoft.com/office/drawing/2014/main" id="{3C3C077B-A812-AB6A-1939-892826C947D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68" b="10582"/>
          <a:stretch>
            <a:fillRect/>
          </a:stretch>
        </p:blipFill>
        <p:spPr bwMode="auto">
          <a:xfrm>
            <a:off x="3200671" y="4002269"/>
            <a:ext cx="2313720" cy="118076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567A3D66-686C-844B-22A9-41F4473525D8}"/>
              </a:ext>
            </a:extLst>
          </p:cNvPr>
          <p:cNvSpPr txBox="1"/>
          <p:nvPr/>
        </p:nvSpPr>
        <p:spPr>
          <a:xfrm>
            <a:off x="2246436" y="3185394"/>
            <a:ext cx="19084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CONVERTIBLE</a:t>
            </a:r>
            <a:endParaRPr lang="pt-PT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B87ABF04-0F5E-B6E4-439E-B04F7AE2E134}"/>
              </a:ext>
            </a:extLst>
          </p:cNvPr>
          <p:cNvSpPr txBox="1"/>
          <p:nvPr/>
        </p:nvSpPr>
        <p:spPr>
          <a:xfrm>
            <a:off x="5570054" y="3196280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COUPE</a:t>
            </a:r>
            <a:endParaRPr lang="pt-PT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590C6E5-7466-E4A1-749D-098030178C14}"/>
              </a:ext>
            </a:extLst>
          </p:cNvPr>
          <p:cNvSpPr txBox="1"/>
          <p:nvPr/>
        </p:nvSpPr>
        <p:spPr>
          <a:xfrm>
            <a:off x="8119968" y="3185394"/>
            <a:ext cx="17427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HATCHBACK</a:t>
            </a:r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0229673-5386-8373-101B-AB20A20AC1D0}"/>
              </a:ext>
            </a:extLst>
          </p:cNvPr>
          <p:cNvSpPr txBox="1"/>
          <p:nvPr/>
        </p:nvSpPr>
        <p:spPr>
          <a:xfrm>
            <a:off x="4016732" y="518303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SUV</a:t>
            </a:r>
            <a:endParaRPr lang="pt-PT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C4CA6E8-0587-3984-2F9D-1EC66C27F3D6}"/>
              </a:ext>
            </a:extLst>
          </p:cNvPr>
          <p:cNvSpPr txBox="1"/>
          <p:nvPr/>
        </p:nvSpPr>
        <p:spPr>
          <a:xfrm>
            <a:off x="7010208" y="5183039"/>
            <a:ext cx="1016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b="1" dirty="0"/>
              <a:t>SEDAN</a:t>
            </a:r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979755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6B576B-7534-9E51-D07A-30BE81FEFB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DATASETS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14F3BC6-7AF5-9C7C-0705-4D3C78780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78410"/>
            <a:ext cx="9603275" cy="4235778"/>
          </a:xfrm>
        </p:spPr>
        <p:txBody>
          <a:bodyPr>
            <a:normAutofit/>
          </a:bodyPr>
          <a:lstStyle/>
          <a:p>
            <a:r>
              <a:rPr lang="pt-PT" b="1" dirty="0"/>
              <a:t>Nome</a:t>
            </a:r>
            <a:r>
              <a:rPr lang="pt-PT" dirty="0"/>
              <a:t>:  “</a:t>
            </a:r>
            <a:r>
              <a:rPr lang="en-US" dirty="0"/>
              <a:t>Car Body Types Images Dataset</a:t>
            </a:r>
            <a:r>
              <a:rPr lang="pt-PT" dirty="0"/>
              <a:t>” e “</a:t>
            </a:r>
            <a:r>
              <a:rPr lang="en-US" dirty="0"/>
              <a:t>Stanford Car Body Type Data</a:t>
            </a:r>
            <a:r>
              <a:rPr lang="pt-PT" dirty="0"/>
              <a:t>” </a:t>
            </a:r>
            <a:endParaRPr lang="en-US" dirty="0"/>
          </a:p>
          <a:p>
            <a:r>
              <a:rPr lang="en-US" b="1" dirty="0"/>
              <a:t>Fonte</a:t>
            </a:r>
            <a:r>
              <a:rPr lang="en-US" dirty="0"/>
              <a:t>: </a:t>
            </a:r>
            <a:r>
              <a:rPr lang="en-US" dirty="0">
                <a:solidFill>
                  <a:schemeClr val="accent2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https://www.kaggle.com/datasets/ademboukhris/cars-body-type-cropped/data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/>
              <a:t>e </a:t>
            </a:r>
            <a:r>
              <a:rPr lang="en-US" dirty="0">
                <a:solidFill>
                  <a:schemeClr val="accent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https://www.kaggle.com/datasets/mayurmahurkar/stanford-car-body-type-data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672FB1-667D-5E65-1D1F-28CC5F2DFA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7" t="2720" r="698" b="1829"/>
          <a:stretch>
            <a:fillRect/>
          </a:stretch>
        </p:blipFill>
        <p:spPr>
          <a:xfrm>
            <a:off x="1504335" y="3429000"/>
            <a:ext cx="9483213" cy="247772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9577031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D1833F-7157-81CC-D650-EC72D9B93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PT" dirty="0"/>
              <a:t>Configuração do ambiente e bibliotecas utilizadas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69CDD697-1A12-2AC1-7879-BD6567C622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54126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buNone/>
            </a:pPr>
            <a:r>
              <a:rPr lang="pt-PT" sz="1900" dirty="0"/>
              <a:t>O projeto foi desenvolvido em </a:t>
            </a:r>
            <a:r>
              <a:rPr lang="pt-PT" sz="1900" b="1" dirty="0"/>
              <a:t>Python 3.10.18</a:t>
            </a:r>
            <a:r>
              <a:rPr lang="pt-PT" sz="1900" dirty="0"/>
              <a:t>, utilizando as seguintes bibliotecas principais:</a:t>
            </a:r>
          </a:p>
          <a:p>
            <a:pPr algn="just"/>
            <a:r>
              <a:rPr lang="pt-PT" b="1" dirty="0" err="1"/>
              <a:t>TensorFlow</a:t>
            </a:r>
            <a:r>
              <a:rPr lang="pt-PT" b="1" dirty="0"/>
              <a:t> com API </a:t>
            </a:r>
            <a:r>
              <a:rPr lang="pt-PT" b="1" dirty="0" err="1"/>
              <a:t>Keras</a:t>
            </a:r>
            <a:r>
              <a:rPr lang="pt-PT" dirty="0"/>
              <a:t> – para criação, treino e avaliação dos modelos de rede neuronal (CNN e MLP).</a:t>
            </a:r>
          </a:p>
          <a:p>
            <a:pPr algn="just"/>
            <a:r>
              <a:rPr lang="pt-PT" b="1" dirty="0"/>
              <a:t>Pickle</a:t>
            </a:r>
            <a:r>
              <a:rPr lang="pt-PT" dirty="0"/>
              <a:t> – para guardar o histórico de treino (</a:t>
            </a:r>
            <a:r>
              <a:rPr lang="pt-PT" dirty="0" err="1"/>
              <a:t>history.pkl</a:t>
            </a:r>
            <a:r>
              <a:rPr lang="pt-PT" dirty="0"/>
              <a:t>).</a:t>
            </a:r>
          </a:p>
          <a:p>
            <a:pPr algn="just"/>
            <a:r>
              <a:rPr lang="pt-PT" b="1" dirty="0" err="1"/>
              <a:t>NumPy</a:t>
            </a:r>
            <a:r>
              <a:rPr lang="pt-PT" dirty="0"/>
              <a:t> – para manipulação matrizes e processamento de previsões.</a:t>
            </a:r>
          </a:p>
          <a:p>
            <a:pPr algn="just"/>
            <a:r>
              <a:rPr lang="pt-PT" b="1" dirty="0" err="1"/>
              <a:t>Matplotlib</a:t>
            </a:r>
            <a:r>
              <a:rPr lang="pt-PT" dirty="0"/>
              <a:t> – para visualização de resultados e geração da matriz de </a:t>
            </a:r>
            <a:r>
              <a:rPr lang="pt-PT" dirty="0" err="1"/>
              <a:t>confusãode</a:t>
            </a:r>
            <a:r>
              <a:rPr lang="pt-PT" dirty="0"/>
              <a:t> vetores,.</a:t>
            </a:r>
          </a:p>
          <a:p>
            <a:pPr algn="just"/>
            <a:r>
              <a:rPr lang="pt-PT" b="1" dirty="0" err="1"/>
              <a:t>scikit-learn</a:t>
            </a:r>
            <a:r>
              <a:rPr lang="pt-PT" dirty="0"/>
              <a:t> – para cálculo de métricas estatísticas: </a:t>
            </a:r>
            <a:r>
              <a:rPr lang="pt-PT" i="1" dirty="0" err="1"/>
              <a:t>accuracy</a:t>
            </a:r>
            <a:r>
              <a:rPr lang="pt-PT" dirty="0"/>
              <a:t>, </a:t>
            </a:r>
            <a:r>
              <a:rPr lang="pt-PT" i="1" dirty="0" err="1"/>
              <a:t>precision</a:t>
            </a:r>
            <a:r>
              <a:rPr lang="pt-PT" dirty="0"/>
              <a:t>, </a:t>
            </a:r>
            <a:r>
              <a:rPr lang="pt-PT" i="1" dirty="0" err="1"/>
              <a:t>recall</a:t>
            </a:r>
            <a:r>
              <a:rPr lang="pt-PT" i="1" dirty="0"/>
              <a:t> (sensibilidade)</a:t>
            </a:r>
            <a:r>
              <a:rPr lang="pt-PT" dirty="0"/>
              <a:t>, </a:t>
            </a:r>
            <a:r>
              <a:rPr lang="pt-PT" i="1" dirty="0"/>
              <a:t>f1-score</a:t>
            </a:r>
            <a:r>
              <a:rPr lang="pt-PT" dirty="0"/>
              <a:t>, </a:t>
            </a:r>
            <a:r>
              <a:rPr lang="pt-PT" i="1" dirty="0"/>
              <a:t>AUC</a:t>
            </a:r>
            <a:r>
              <a:rPr lang="pt-PT" dirty="0"/>
              <a:t> e </a:t>
            </a:r>
            <a:r>
              <a:rPr lang="pt-PT" i="1" dirty="0"/>
              <a:t>especificidade</a:t>
            </a:r>
            <a:r>
              <a:rPr lang="pt-PT" dirty="0"/>
              <a:t>.</a:t>
            </a:r>
          </a:p>
          <a:p>
            <a:pPr marL="0" indent="0" algn="just">
              <a:buNone/>
            </a:pPr>
            <a:r>
              <a:rPr lang="pt-PT" sz="1900" dirty="0"/>
              <a:t>A execução foi feita em ambiente local com GPU (quando possível), garantindo tempos de treino mais rápidos.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337408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0540C-77BA-475D-F1CA-964B35F33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0653" y="752760"/>
            <a:ext cx="2490693" cy="1049235"/>
          </a:xfrm>
        </p:spPr>
        <p:txBody>
          <a:bodyPr>
            <a:normAutofit/>
          </a:bodyPr>
          <a:lstStyle/>
          <a:p>
            <a:r>
              <a:rPr lang="pt-PT" sz="5000" dirty="0"/>
              <a:t>TREINO</a:t>
            </a:r>
          </a:p>
        </p:txBody>
      </p:sp>
    </p:spTree>
    <p:extLst>
      <p:ext uri="{BB962C8B-B14F-4D97-AF65-F5344CB8AC3E}">
        <p14:creationId xmlns:p14="http://schemas.microsoft.com/office/powerpoint/2010/main" val="1313668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A10B33-49E4-E6E4-387A-C132C0343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Pré-processamento e Normalização das imagens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9EBD07-44DB-0CF8-F334-653AE8E6C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00" y="2177960"/>
            <a:ext cx="2011924" cy="245174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51BD3C-7A80-50EA-3EF2-5ED0B222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40" y="2177960"/>
            <a:ext cx="8665635" cy="2451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3451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1EF74-23AF-0941-E56F-0B14279D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Modelo base – Arquitetura CNN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05EF3F8-5CDF-3D0D-F1AB-CC6CB2E9DD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79" y="2048711"/>
            <a:ext cx="7149464" cy="2760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705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1E07A8-BE3F-5E20-E427-0C51E7AB3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Modelo alternativo – Arquitetura MLP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71E2F3B-7157-7EA9-B8F7-F4E3C0162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1579" y="2022205"/>
            <a:ext cx="7146731" cy="2775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4955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D22F70-F6E9-2308-4699-94468F35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OTIMIZADOR E PARÂMETROS DE TREINO DOS MODELOS CNN E MLP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7FBC250-B6B3-17C1-EAAB-A949FAA5F8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275" y="1964366"/>
            <a:ext cx="4263420" cy="402819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0D407F2F-F3F7-2DF1-911F-AA24D3E03612}"/>
              </a:ext>
            </a:extLst>
          </p:cNvPr>
          <p:cNvSpPr txBox="1"/>
          <p:nvPr/>
        </p:nvSpPr>
        <p:spPr>
          <a:xfrm>
            <a:off x="6143541" y="4853152"/>
            <a:ext cx="49113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/>
              <a:t>No final do treino são salvos dois ficheiros: um com o melhor modelo do treino; e outro com o histórico do treino (métricas de </a:t>
            </a:r>
            <a:r>
              <a:rPr lang="pt-PT" dirty="0" err="1"/>
              <a:t>loss</a:t>
            </a:r>
            <a:r>
              <a:rPr lang="pt-PT" dirty="0"/>
              <a:t> e </a:t>
            </a:r>
            <a:r>
              <a:rPr lang="pt-PT" dirty="0" err="1"/>
              <a:t>accuracy</a:t>
            </a:r>
            <a:r>
              <a:rPr lang="pt-PT" dirty="0"/>
              <a:t> do treino e validação).</a:t>
            </a:r>
          </a:p>
        </p:txBody>
      </p:sp>
    </p:spTree>
    <p:extLst>
      <p:ext uri="{BB962C8B-B14F-4D97-AF65-F5344CB8AC3E}">
        <p14:creationId xmlns:p14="http://schemas.microsoft.com/office/powerpoint/2010/main" val="1785919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56EDE-CBC8-17A5-98B1-C2986BB97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Razão para escolha do </a:t>
            </a:r>
            <a:r>
              <a:rPr lang="pt-PT" dirty="0" err="1"/>
              <a:t>Keras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0A6A49E0-8E61-C231-5A13-0657FB0F4D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854126"/>
          </a:xfrm>
        </p:spPr>
        <p:txBody>
          <a:bodyPr/>
          <a:lstStyle/>
          <a:p>
            <a:pPr algn="just"/>
            <a:r>
              <a:rPr lang="pt-PT" dirty="0"/>
              <a:t>Em primeiro lugar, o Keras permite que o modelo seja treinado utilizando a GPU, o que acelera significativamente o processo de treino. </a:t>
            </a:r>
          </a:p>
          <a:p>
            <a:pPr algn="just"/>
            <a:r>
              <a:rPr lang="pt-PT" dirty="0"/>
              <a:t>Principalmente no modelo MLP:</a:t>
            </a:r>
          </a:p>
          <a:p>
            <a:pPr lvl="1" algn="just"/>
            <a:r>
              <a:rPr lang="pt-PT" dirty="0"/>
              <a:t>O </a:t>
            </a:r>
            <a:r>
              <a:rPr lang="pt-PT" dirty="0" err="1"/>
              <a:t>Keras</a:t>
            </a:r>
            <a:r>
              <a:rPr lang="pt-PT" dirty="0"/>
              <a:t> oferece um maior controlo e flexibilidade na definição da rede neuronal, permitindo configurar manualmente todas as camadas e ajustar a sua estrutura de forma a aproximar-se ao máximo do modelo CNN desenvolvido. Desta forma, torna-se possível realizar uma comparação direta entre ambos os modelos, algo que não seria possível utilizando a biblioteca </a:t>
            </a:r>
            <a:r>
              <a:rPr lang="pt-PT" i="1" dirty="0" err="1"/>
              <a:t>scikit-learn</a:t>
            </a:r>
            <a:r>
              <a:rPr lang="pt-PT" dirty="0"/>
              <a:t> (abordagem adotada nas aulas práticas).</a:t>
            </a:r>
          </a:p>
        </p:txBody>
      </p:sp>
    </p:spTree>
    <p:extLst>
      <p:ext uri="{BB962C8B-B14F-4D97-AF65-F5344CB8AC3E}">
        <p14:creationId xmlns:p14="http://schemas.microsoft.com/office/powerpoint/2010/main" val="2588740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BD5D0-1936-9BAA-BB77-3B651FF5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C80D78-3004-4666-DA63-E6933E0F1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320" y="752760"/>
            <a:ext cx="1889360" cy="1049235"/>
          </a:xfrm>
        </p:spPr>
        <p:txBody>
          <a:bodyPr>
            <a:normAutofit/>
          </a:bodyPr>
          <a:lstStyle/>
          <a:p>
            <a:r>
              <a:rPr lang="pt-PT" sz="5000" dirty="0"/>
              <a:t>Teste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151094B9-FC20-4843-5BDF-3B2912959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4008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PT" sz="1800" dirty="0"/>
              <a:t>No teste foram feitos os seguintes procedimentos:</a:t>
            </a:r>
          </a:p>
          <a:p>
            <a:r>
              <a:rPr lang="pt-PT" sz="1800" dirty="0"/>
              <a:t>Pré-processamento e normalização das imagens (tal como no treino).</a:t>
            </a:r>
          </a:p>
          <a:p>
            <a:r>
              <a:rPr lang="pt-PT" sz="1800" dirty="0"/>
              <a:t>Previsões a partir do melhor modelo salvo no treino nas imagens para teste.</a:t>
            </a:r>
          </a:p>
          <a:p>
            <a:r>
              <a:rPr lang="pt-PT" sz="1800" dirty="0"/>
              <a:t>Apresentado a Matriz de confusão.</a:t>
            </a:r>
          </a:p>
          <a:p>
            <a:r>
              <a:rPr lang="pt-PT" sz="1800" dirty="0"/>
              <a:t>Apresentado o resultado das seguintes métricas:</a:t>
            </a:r>
            <a:endParaRPr lang="pt-PT" sz="1600" dirty="0"/>
          </a:p>
          <a:p>
            <a:pPr lvl="1"/>
            <a:r>
              <a:rPr lang="pt-PT" sz="1600" dirty="0" err="1"/>
              <a:t>Accuracy</a:t>
            </a:r>
            <a:r>
              <a:rPr lang="pt-PT" sz="1600" dirty="0"/>
              <a:t>;</a:t>
            </a:r>
          </a:p>
          <a:p>
            <a:pPr lvl="1"/>
            <a:r>
              <a:rPr lang="pt-PT" sz="1600" dirty="0"/>
              <a:t>Precisão;</a:t>
            </a:r>
          </a:p>
          <a:p>
            <a:pPr lvl="1"/>
            <a:r>
              <a:rPr lang="pt-PT" sz="1600" dirty="0" err="1"/>
              <a:t>Recall</a:t>
            </a:r>
            <a:r>
              <a:rPr lang="pt-PT" sz="1600" dirty="0"/>
              <a:t> (sensibilidade);</a:t>
            </a:r>
          </a:p>
          <a:p>
            <a:pPr lvl="1"/>
            <a:r>
              <a:rPr lang="pt-PT" sz="1600" dirty="0"/>
              <a:t>F1-score (f-</a:t>
            </a:r>
            <a:r>
              <a:rPr lang="pt-PT" sz="1600" dirty="0" err="1"/>
              <a:t>measure</a:t>
            </a:r>
            <a:r>
              <a:rPr lang="pt-PT" sz="1600" dirty="0"/>
              <a:t>);</a:t>
            </a:r>
          </a:p>
          <a:p>
            <a:pPr lvl="1"/>
            <a:r>
              <a:rPr lang="pt-PT" sz="1600" dirty="0"/>
              <a:t>Especificidade por classe;</a:t>
            </a:r>
          </a:p>
          <a:p>
            <a:pPr lvl="1"/>
            <a:r>
              <a:rPr lang="pt-PT" sz="1600" dirty="0"/>
              <a:t>AUC;</a:t>
            </a:r>
          </a:p>
        </p:txBody>
      </p:sp>
    </p:spTree>
    <p:extLst>
      <p:ext uri="{BB962C8B-B14F-4D97-AF65-F5344CB8AC3E}">
        <p14:creationId xmlns:p14="http://schemas.microsoft.com/office/powerpoint/2010/main" val="16516294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1F086-DBB9-9C4E-8F5E-AD5182710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A1DBF-CD4D-7648-45B7-4B990DC04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1337" y="760711"/>
            <a:ext cx="6909326" cy="1049235"/>
          </a:xfrm>
        </p:spPr>
        <p:txBody>
          <a:bodyPr>
            <a:normAutofit fontScale="90000"/>
          </a:bodyPr>
          <a:lstStyle/>
          <a:p>
            <a:r>
              <a:rPr lang="pt-PT" sz="5000" dirty="0"/>
              <a:t>ANÁLISE DE RESULTADOS</a:t>
            </a:r>
          </a:p>
        </p:txBody>
      </p:sp>
    </p:spTree>
    <p:extLst>
      <p:ext uri="{BB962C8B-B14F-4D97-AF65-F5344CB8AC3E}">
        <p14:creationId xmlns:p14="http://schemas.microsoft.com/office/powerpoint/2010/main" val="1395765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6C28B2-32AA-4D6F-60A2-9998392FD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resultados – Conjunto de treino (CNN)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E9A909D-2537-A8B6-0D99-76A6F87A8E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748" y="2250827"/>
            <a:ext cx="5214764" cy="344546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E36FC0A-775B-4744-55A6-CEB85C7136B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433" y="2250827"/>
            <a:ext cx="5214644" cy="3445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343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0066C9-2A9A-48EF-570C-18BD55515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resultados – Conjunto de teste (CNN)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D259D1C-AE33-05D9-3337-B8C38068DB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4716" y="1983759"/>
            <a:ext cx="4008543" cy="395217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8DB9D1A-7181-3777-758B-58EC6B906F0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9787" y="1983760"/>
            <a:ext cx="3905842" cy="395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847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E44DA7-662F-BFB5-F129-07C9FA9DD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resultados – Conjunto de treino (mlp)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F2265C6-7E79-B100-706C-DA05E1A641E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10" y="2242038"/>
            <a:ext cx="5259451" cy="3476042"/>
          </a:xfrm>
          <a:prstGeom prst="rect">
            <a:avLst/>
          </a:prstGeom>
        </p:spPr>
      </p:pic>
      <p:pic>
        <p:nvPicPr>
          <p:cNvPr id="5" name="Imagem 4" descr="Uma imagem com texto, file, Gráfico, diagrama&#10;&#10;Os conteúdos gerados por IA podem estar incorretos.">
            <a:extLst>
              <a:ext uri="{FF2B5EF4-FFF2-40B4-BE49-F238E27FC236}">
                <a16:creationId xmlns:a16="http://schemas.microsoft.com/office/drawing/2014/main" id="{6FB4617B-9956-79FF-E925-D5951776BF6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008" y="2242039"/>
            <a:ext cx="5217874" cy="347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1663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3511FE-BF0F-292D-BE41-DF6CDB661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Análise de resultados – Conjunto de teste (mlp)</a:t>
            </a:r>
          </a:p>
        </p:txBody>
      </p:sp>
      <p:pic>
        <p:nvPicPr>
          <p:cNvPr id="4" name="Marcador de Posição de Conteúdo 3">
            <a:extLst>
              <a:ext uri="{FF2B5EF4-FFF2-40B4-BE49-F238E27FC236}">
                <a16:creationId xmlns:a16="http://schemas.microsoft.com/office/drawing/2014/main" id="{BEB45AC8-04D6-F9E8-F86E-6BC0C0896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975" y="1995854"/>
            <a:ext cx="4006846" cy="395242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298C05B9-E9FE-2D58-7EAC-C1E0D81A7A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2304" y="1995854"/>
            <a:ext cx="3980388" cy="395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874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00723C-27BD-D749-6564-1421CC40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Comparação entre CNN e </a:t>
            </a:r>
            <a:r>
              <a:rPr lang="pt-PT" dirty="0" err="1"/>
              <a:t>mlp</a:t>
            </a:r>
            <a:endParaRPr lang="pt-PT" dirty="0"/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381AB180-1C60-E582-16AD-B9E84C917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pt-PT" dirty="0"/>
              <a:t>Os resultados práticos são claros: a CNN atingiu 66,2 % de accuracy e um AUC de 0,8967, enquanto a MLP obteve apenas 33,9 % de accuracy e AUC de 0,6631. </a:t>
            </a:r>
          </a:p>
          <a:p>
            <a:pPr algn="just"/>
            <a:r>
              <a:rPr lang="pt-PT" dirty="0"/>
              <a:t>A rede neuronal MLP começa por achatar a imagem (128×128×3 → 49 152 valores) e, ao fazê-lo, perde a informação espacial, isto é, a relação entre </a:t>
            </a:r>
            <a:r>
              <a:rPr lang="pt-PT" dirty="0" err="1"/>
              <a:t>píxeis</a:t>
            </a:r>
            <a:r>
              <a:rPr lang="pt-PT" dirty="0"/>
              <a:t> vizinhos. Na prática, trata cada </a:t>
            </a:r>
            <a:r>
              <a:rPr lang="pt-PT" dirty="0" err="1"/>
              <a:t>píxel</a:t>
            </a:r>
            <a:r>
              <a:rPr lang="pt-PT" dirty="0"/>
              <a:t> como uma unidade independente.</a:t>
            </a:r>
          </a:p>
          <a:p>
            <a:pPr algn="just"/>
            <a:r>
              <a:rPr lang="pt-PT" dirty="0"/>
              <a:t>A CNN, por outro lado, opera com filtros bidimensionais (2D) que exploram vizinhanças locais (receptive fields), permitindo captar arestas, curvas e padrões de forma consistente no espaço. Esta capacidade de preservar a estrutura espacial é fundamental na classificação de imagens de carros, onde a forma e a disposição dos elementos visuais são determinantes.</a:t>
            </a:r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4048996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A299C-EE6C-0EAA-2917-BA9001B9C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dirty="0"/>
              <a:t>Conclusões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B039F64-9655-00C4-C480-83F6696E25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450613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PT" dirty="0"/>
              <a:t>Inicialmente, a rede apresentava uma elevada accuracy no treino, mas um desempenho significativamente inferior na validação, o que indicava uma falta de generalização.  A principal dificuldade encontrada foi o controlo do </a:t>
            </a:r>
            <a:r>
              <a:rPr lang="pt-PT" dirty="0" err="1"/>
              <a:t>overfitting</a:t>
            </a:r>
            <a:r>
              <a:rPr lang="pt-PT" dirty="0"/>
              <a:t> nas primeiras versões do modelo.</a:t>
            </a:r>
            <a:br>
              <a:rPr lang="pt-PT" dirty="0"/>
            </a:br>
            <a:r>
              <a:rPr lang="pt-PT" dirty="0"/>
              <a:t>A introdução de técnicas como Dropout, EarlyStopping e </a:t>
            </a:r>
            <a:r>
              <a:rPr lang="pt-PT" dirty="0" err="1"/>
              <a:t>GlobalAveragePooling</a:t>
            </a:r>
            <a:r>
              <a:rPr lang="pt-PT" dirty="0"/>
              <a:t> permitiu mitigar esse problema, estabilizando o treino e garantindo resultados mais consistentes e equilibrados entre os diferentes conjuntos de dados.</a:t>
            </a:r>
          </a:p>
          <a:p>
            <a:pPr algn="just"/>
            <a:r>
              <a:rPr lang="pt-PT" dirty="0"/>
              <a:t>Na meta final, o modelo CNN demonstrou uma boa estabilidade e generalização, com curvas de treino e validação consistentes.  A análise das métricas confirmou a eficácia da arquitetura implementada, validando a escolha da CNN como modelo base para continuação do trabalho nas próximas metas.</a:t>
            </a:r>
          </a:p>
        </p:txBody>
      </p:sp>
    </p:spTree>
    <p:extLst>
      <p:ext uri="{BB962C8B-B14F-4D97-AF65-F5344CB8AC3E}">
        <p14:creationId xmlns:p14="http://schemas.microsoft.com/office/powerpoint/2010/main" val="2309647876"/>
      </p:ext>
    </p:extLst>
  </p:cSld>
  <p:clrMapOvr>
    <a:masterClrMapping/>
  </p:clrMapOvr>
</p:sld>
</file>

<file path=ppt/theme/theme1.xml><?xml version="1.0" encoding="utf-8"?>
<a:theme xmlns:a="http://schemas.openxmlformats.org/drawingml/2006/main" name="Galeria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{8B42C8C8-AADD-4AEA-A109-DB2F98750917}TFc986dd65-aaf0-4d5c-bef9-9c391ee05f7be76530a6-0ca6c874b13b</Template>
  <TotalTime>1152</TotalTime>
  <Words>1985</Words>
  <Application>Microsoft Office PowerPoint</Application>
  <PresentationFormat>Ecrã Panorâmico</PresentationFormat>
  <Paragraphs>133</Paragraphs>
  <Slides>19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19</vt:i4>
      </vt:variant>
    </vt:vector>
  </HeadingPairs>
  <TitlesOfParts>
    <vt:vector size="23" baseType="lpstr">
      <vt:lpstr>Arial</vt:lpstr>
      <vt:lpstr>Calibri</vt:lpstr>
      <vt:lpstr>Gill Sans MT</vt:lpstr>
      <vt:lpstr>Galeria</vt:lpstr>
      <vt:lpstr>Classificação de carrocerias de automóveis </vt:lpstr>
      <vt:lpstr>Objetivos e potenciais aplicações reais</vt:lpstr>
      <vt:lpstr>Classes</vt:lpstr>
      <vt:lpstr>DATASETS</vt:lpstr>
      <vt:lpstr>Configuração do ambiente e bibliotecas utilizadas</vt:lpstr>
      <vt:lpstr>TREINO</vt:lpstr>
      <vt:lpstr>Pré-processamento e Normalização das imagens</vt:lpstr>
      <vt:lpstr>Modelo base – Arquitetura CNN</vt:lpstr>
      <vt:lpstr>Modelo alternativo – Arquitetura MLP </vt:lpstr>
      <vt:lpstr>OTIMIZADOR E PARÂMETROS DE TREINO DOS MODELOS CNN E MLP</vt:lpstr>
      <vt:lpstr>Razão para escolha do Keras</vt:lpstr>
      <vt:lpstr>Teste</vt:lpstr>
      <vt:lpstr>ANÁLISE DE RESULTADOS</vt:lpstr>
      <vt:lpstr>Análise de resultados – Conjunto de treino (CNN)</vt:lpstr>
      <vt:lpstr>Análise de resultados – Conjunto de teste (CNN)</vt:lpstr>
      <vt:lpstr>Análise de resultados – Conjunto de treino (mlp)</vt:lpstr>
      <vt:lpstr>Análise de resultados – Conjunto de teste (mlp)</vt:lpstr>
      <vt:lpstr>Comparação entre CNN e mlp</vt:lpstr>
      <vt:lpstr>Conclusões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Pedro Saraiva</dc:creator>
  <cp:lastModifiedBy>Pedro Saraiva</cp:lastModifiedBy>
  <cp:revision>85</cp:revision>
  <cp:lastPrinted>2025-10-20T02:49:48Z</cp:lastPrinted>
  <dcterms:created xsi:type="dcterms:W3CDTF">2025-09-23T01:41:49Z</dcterms:created>
  <dcterms:modified xsi:type="dcterms:W3CDTF">2025-10-21T16:18:33Z</dcterms:modified>
</cp:coreProperties>
</file>