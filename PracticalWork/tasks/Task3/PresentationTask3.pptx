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90" r:id="rId10"/>
    <p:sldId id="292" r:id="rId11"/>
    <p:sldId id="289" r:id="rId12"/>
    <p:sldId id="293" r:id="rId13"/>
    <p:sldId id="294" r:id="rId14"/>
    <p:sldId id="295" r:id="rId15"/>
    <p:sldId id="296" r:id="rId16"/>
    <p:sldId id="297" r:id="rId17"/>
    <p:sldId id="298" r:id="rId18"/>
    <p:sldId id="29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 autoAdjust="0"/>
    <p:restoredTop sz="71412" autoAdjust="0"/>
  </p:normalViewPr>
  <p:slideViewPr>
    <p:cSldViewPr snapToGrid="0">
      <p:cViewPr varScale="1">
        <p:scale>
          <a:sx n="65" d="100"/>
          <a:sy n="65" d="100"/>
        </p:scale>
        <p:origin x="1205" y="53"/>
      </p:cViewPr>
      <p:guideLst/>
    </p:cSldViewPr>
  </p:slideViewPr>
  <p:notesTextViewPr>
    <p:cViewPr>
      <p:scale>
        <a:sx n="1" d="1"/>
        <a:sy n="1" d="1"/>
      </p:scale>
      <p:origin x="0" y="-37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4670755-50FB-3064-0640-1595FE45BD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FA29E04-1287-B477-9858-B3D410D88F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55C59-FFEC-4B7C-91D0-70338C24FFBA}" type="datetimeFigureOut">
              <a:rPr lang="pt-PT" smtClean="0"/>
              <a:t>16/12/2025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A60511C-54A1-C118-C00C-F7C08E2EE0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0545ABE-56A6-1D3D-FF73-D23182E238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C0547-DAE0-4AE8-8C32-33548EBEC97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37250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3.111"/>
    </inkml:context>
    <inkml:brush xml:id="br0">
      <inkml:brushProperty name="width" value="0.035" units="cm"/>
      <inkml:brushProperty name="height" value="0.035" units="cm"/>
      <inkml:brushProperty name="color" value="#E6E3DF"/>
    </inkml:brush>
  </inkml:definitions>
  <inkml:trace contextRef="#ctx0" brushRef="#br0">141 9 24575,'1'34'0,"-1"0"0,-2-1 0,-2 1 0,-1 0 0,-17 60 0,-13 15 0,32-136 0,5 6 0,0 1 0,2 0 0,0 0 0,2 0 0,10-27 0,49-91 0,-35 79 0,-24 51 0,-2 8 0,0 21 0,-4 41 0,-1-55 0,-1 139 0,1-223 0,-2 69 0,-3 14 0,-5 18 0,2 7 0,1 0 0,-4 35 0,-11 43 0,19-102 0,2-8 0,-3-17 0,1-26 0,5-11 0,-1 42 0,0 38 0,0 98 0,-4-204 0,-21-122 0,18 182 0,7 21 0,-1 0 0,1 0 0,0 0 0,-1 0 0,1 0 0,0 0 0,0 0 0,-1 0 0,1 0 0,0 0 0,0 0 0,-1 0 0,1 1 0,0-1 0,-1 0 0,1 0 0,0 0 0,0 0 0,-1 0 0,1 1 0,0-1 0,0 0 0,0 0 0,-1 0 0,1 1 0,0-1 0,0 0 0,0 0 0,0 0 0,-1 1 0,1-1 0,0 0 0,0 0 0,0 1 0,0-1 0,0 0 0,0 1 0,-16 43 0,12-30 0,-13 36 0,8-29 0,1 0 0,2 0 0,0 1 0,1-1 0,-3 39 0,27-345 0,-10 322 0,-5-10 0,29 145 0,-32-170 0,1-7 0,0-19 0,0-35 0,-3-170 0,1 229 0,0 0 0,1-1 0,-1 1 0,0 0 0,0-1 0,0 1 0,0-1 0,0 1 0,0 0 0,0-1 0,0 1 0,0 0 0,0-1 0,0 1 0,0-1 0,0 1 0,0 0 0,0-1 0,0 1 0,0 0 0,0-1 0,-1 1 0,1 0 0,0-1 0,0 1 0,0 0 0,-1-1 0,1 1 0,0 0 0,0 0 0,-1-1 0,1 1 0,0 0 0,0 0 0,-1-1 0,-6 15 0,-9 35 0,15-45 0,-38 138 0,36-186 0,3 25 0,0 46 0,0-5 0,1-1 0,0 1 0,2-1 0,6 28 0,8-137 0,-16 81 0,3-17 0,1 21 0,3 14 0,4 14-682,16 46-1,-20-48-6143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7.426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25.192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350 101 24575,'-1'21'0,"-2"0"0,-1-1 0,0 0 0,-1 0 0,-2 0 0,-14 32 0,10-25 0,1 0 0,-10 48 0,17-62 0,1 2 0,0 1 0,-2-1 0,0 0 0,-1 0 0,-6 14 0,6-63 0,1-35 0,-8-203 0,12 262 0,0 5 0,1 0 0,-1 0 0,-1 0 0,1 0 0,-1 0 0,0 1 0,0-1 0,-3-9 0,4 14 0,0 0 0,-1 0 0,1 0 0,0 0 0,0 0 0,0 0 0,-1 0 0,1 0 0,0 0 0,0 0 0,0 0 0,-1 0 0,1 0 0,0 0 0,0 0 0,0 0 0,-1 0 0,1 0 0,0 1 0,0-1 0,0 0 0,0 0 0,-1 0 0,1 0 0,0 0 0,0 0 0,0 1 0,0-1 0,0 0 0,-1 0 0,1 0 0,0 1 0,0-1 0,0 0 0,0 0 0,0 0 0,0 1 0,0-1 0,0 0 0,0 0 0,0 0 0,0 1 0,0-1 0,0 0 0,0 0 0,0 0 0,0 1 0,0-1 0,0 0 0,0 0 0,0 0 0,0 1 0,0-1 0,-3 15 0,1 23 0,4 51 0,0-67 0,-1 1 0,-1 0 0,0 0 0,-2 0 0,-1 0 0,-10 39 0,13-62 0,0-1 0,0 1 0,0 0 0,0 0 0,0 0 0,0 0 0,0 0 0,0 0 0,0 0 0,0 0 0,0 0 0,-1 0 0,1-1 0,0 1 0,0 0 0,0 0 0,0 0 0,0 0 0,0 0 0,0 0 0,0 0 0,0 0 0,0 0 0,0 0 0,0 0 0,0 0 0,0 0 0,-1 0 0,1 0 0,0 0 0,0 0 0,0 0 0,0 0 0,0 0 0,0 0 0,0 0 0,0 0 0,0 0 0,0 0 0,-1 0 0,1 0 0,0 0 0,0 0 0,0 0 0,0 0 0,0 0 0,0 0 0,0 0 0,0 0 0,0 0 0,0 0 0,-1 0 0,1 0 0,0 0 0,0 0 0,0 0 0,0 0 0,0 0 0,0 0 0,0 0 0,0 1 0,0-1 0,0 0 0,-5-15 0,0-18 0,-3-300 0,-7 486 0,-3 58 0,17-53 0,7-284 0,5 1 0,34-153 0,-42 262 0,-3 22 0,-4 28 0,-92 479 0,103-642 0,40-282 0,-48 530 0,2-55 0,-2 269 0,1-333 0,0 0 0,0 0 0,-1 1 0,1-1 0,0 0 0,0 1 0,0-1 0,0 0 0,0 1 0,0-1 0,0 0 0,0 1 0,0-1 0,0 0 0,0 0 0,0 1 0,0-1 0,0 0 0,0 1 0,0-1 0,0 0 0,0 1 0,1-1 0,-1 0 0,0 0 0,0 1 0,0-1 0,0 0 0,1 0 0,-1 1 0,0-1 0,0 0 0,1 0 0,-1 0 0,0 1 0,0-1 0,1 0 0,-1 0 0,8-12 0,6-28 0,55-226 0,-7 18 0,-95 505 0,28-222 0,-1-1 0,-2 0 0,-1 0 0,-2-1 0,-24 51 0,34-83 0,1 0 0,0 0 0,-1 0 0,1 0 0,0 0 0,-1 0 0,1-1 0,-1 1 0,0 0 0,1 0 0,-1-1 0,1 1 0,-1-1 0,0 1 0,0 0 0,1-1 0,-1 1 0,0-1 0,0 1 0,0-1 0,0 0 0,1 1 0,-1-1 0,0 0 0,0 0 0,0 0 0,0 1 0,-1-1 0,0-1 0,1 0 0,0 1 0,-1-1 0,1 0 0,0 0 0,0 0 0,0 0 0,0 0 0,-1 0 0,1 0 0,1 0 0,-1 0 0,0 0 0,0-1 0,-1-1 0,-2-6 0,0-1 0,0 1 0,0-1 0,-1-9 0,-19-126 0,16 97 0,5 31 0,0 1 0,0-24 0,4 26 0,-1-20 0,0 32 0,0 1 0,0 0 0,0 0 0,0-1 0,0 1 0,-1 0 0,1 0 0,0-1 0,-1 1 0,1 0 0,-1 0 0,1 0 0,-1 0 0,0-1 0,0 1 0,1 0 0,-1 0 0,0 0 0,-1-1 0,1 2 0,0 0 0,0 0 0,1 0 0,-1 1 0,0-1 0,0 0 0,1 0 0,-1 0 0,0 1 0,0-1 0,1 0 0,-1 1 0,0-1 0,1 0 0,-1 1 0,0-1 0,1 1 0,-1-1 0,1 1 0,-1-1 0,1 1 0,-1 0 0,1-1 0,-1 1 0,1 0 0,-1-1 0,1 1 0,0 0 0,0-1 0,-1 1 0,1 0 0,0 0 0,0 1 0,-12 30 0,12-30 0,-11 45 0,8-33 0,0 0 0,0 0 0,-9 18 0,9-23 0,-1 1 0,2 0 0,-1 0 0,1-1 0,1 2 0,-1 13 0,4 66 0,0-32 0,-3 10 0,3 71 0,-2-136 0,0 0 0,1 0 0,-1 0 0,1 0 0,0 0 0,0-1 0,0 1 0,1 0 0,-1-1 0,0 1 0,1-1 0,0 1 0,-1-1 0,1 0 0,0 0 0,0 0 0,1 0 0,2 2 0,3 2 0,1-1 0,0 0 0,0-1 0,10 3 0,8 5 0,-23-11 0,-1 1 0,1 0 0,0-1 0,0 0 0,0 0 0,0 0 0,0 0 0,1-1 0,-1 1 0,0-1 0,0 0 0,0 0 0,0-1 0,1 1 0,-1-1 0,6-2 0,-5 1 0,-1 0 0,1-1 0,-1 1 0,1-1 0,-1 0 0,0-1 0,0 1 0,0-1 0,-1 1 0,1-1 0,-1 0 0,0-1 0,3-4 0,40-68 0,-2-3 0,44-119 0,-88 199 0,0-1 0,0 1 0,0-1 0,1 1 0,-1-1 0,0 1 0,0-1 0,0 1 0,1-1 0,-1 1 0,0-1 0,0 1 0,1-1 0,-1 1 0,0 0 0,1-1 0,-1 1 0,1-1 0,-1 1 0,0 0 0,1-1 0,-1 1 0,1 0 0,-1 0 0,1-1 0,-1 1 0,1 0 0,-1 0 0,1 0 0,7 12 0,0 26 0,-5 42 0,-3-75 0,0-17 0,0-10 0,-1-132 0,1 314 0,-1-154 0,-1-7 0,-5-14 0,-7-29 0,0-5 0,-32-132 0,46 180 0,0 1 0,0 0 0,0-1 0,0 1 0,0-1 0,0 1 0,0-1 0,0 1 0,0 0 0,0-1 0,0 1 0,0-1 0,0 1 0,-1 0 0,1-1 0,0 1 0,0-1 0,0 1 0,-1 0 0,1-1 0,0 1 0,0 0 0,-1 0 0,1-1 0,0 1 0,-1 0 0,1-1 0,0 1 0,-1 0 0,0-1 0,-5 14 0,-4 30 0,10-39 0,-11 57 0,-3 0 0,-34 92 0,42-143 0,2-14 0,1-21 0,2 21 0,-13-215 0,15 209 0,3 11 0,8 23 0,11 41 0,23 137 0,-46-202 0,0 0 0,-1 1 0,1-1 0,0 0 0,0 0 0,0 0 0,0 0 0,0 0 0,0 1 0,0-1 0,0 0 0,1 0 0,-1 0 0,0 0 0,0 0 0,0 1 0,0-1 0,0 0 0,0 0 0,0 0 0,0 0 0,0 0 0,0 1 0,0-1 0,0 0 0,1 0 0,-1 0 0,0 0 0,0 0 0,0 0 0,0 0 0,0 0 0,0 0 0,1 1 0,-1-1 0,0 0 0,0 0 0,0 0 0,0 0 0,1 0 0,-1 0 0,0 0 0,0 0 0,0 0 0,0 0 0,0 0 0,1 0 0,-1 0 0,0 0 0,0 0 0,0 0 0,0-1 0,1 1 0,5-10 0,3-19 0,-9 29 0,90-271 0,-89 269 0,-1 0 0,1-1 0,0 1 0,0 0 0,0-1 0,0 1 0,1 0 0,-1 0 0,0 0 0,1 0 0,0 0 0,-1 1 0,1-1 0,4-3 0,-6 5 0,1 0 0,0 0 0,-1 0 0,1 0 0,-1 0 0,1 0 0,0 0 0,-1 0 0,1 0 0,0 0 0,-1 0 0,1 0 0,-1 0 0,1 0 0,0 0 0,-1 1 0,1-1 0,-1 0 0,1 1 0,-1-1 0,2 1 0,14 18 0,-7 1 0,0-1 0,-1 1 0,10 40 0,5 15 0,-16-66 0,-3-15 0,1-30 0,-1 11 0,-2 31 0,0 0 0,-1 0 0,1 0 0,0 12 0,-3-53 0,-8-184 0,9 208 0,7 33 0,8 40 0,-13-52 0,-2-7 0,0 0 0,1 0 0,-1 0 0,1 0 0,0 0 0,0 0 0,0 0 0,0 0 0,0 0 0,3 4 0,-3-7 0,-1 0 0,0 0 0,1 0 0,-1 0 0,1 0 0,-1 0 0,0 0 0,1-1 0,-1 1 0,0 0 0,1 0 0,-1 0 0,1 0 0,-1 0 0,0-1 0,1 1 0,-1 0 0,0 0 0,0-1 0,1 1 0,-1 0 0,0 0 0,1-1 0,-1 1 0,0 0 0,0-1 0,0 1 0,1 0 0,-1-1 0,0 1 0,0-1 0,0 1 0,0 0 0,0-1 0,0 1 0,0 0 0,0-1 0,0 1 0,0-1 0,0 0 0,6-19 0,7-74 0,-8 174 0,-3-41 0,10 61 0,3-59 0,-15-40 0,0-1 0,0 1 0,0-1 0,1 1 0,-1-1 0,0 1 0,0-1 0,0 0 0,1 1 0,-1-1 0,0 1 0,1-1 0,-1 0 0,0 1 0,1-1 0,-1 0 0,0 0 0,1 1 0,-1-1 0,1 0 0,-1 0 0,1 1 0,-1-1 0,0 0 0,2 0 0,-2-1 0,1 0 0,-1 0 0,1 0 0,0 0 0,-1 0 0,0 0 0,1 0 0,-1-1 0,0 1 0,1 0 0,-1 0 0,0 0 0,0-1 0,0 1 0,-1-2 0,1-41 0,-12-80 0,10 114 0,-9-36 0,4 87 0,7 25-1365,0-48-5461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5:21.530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201 1 24575,'1'1'0,"-1"1"0,0-1 0,1 1 0,0-1 0,-1 1 0,1-1 0,0 1 0,0-1 0,0 0 0,0 1 0,0-1 0,0 0 0,0 0 0,0 1 0,0-1 0,1 0 0,0 0 0,30 20 0,-20-14 0,57 34 0,-69-41 0,0 0 0,1 0 0,-1 0 0,0 0 0,0 0 0,1 0 0,-1 0 0,0 0 0,0 0 0,0 1 0,1-1 0,-1 0 0,0 0 0,0 0 0,0 0 0,0 1 0,0-1 0,1 0 0,-1 0 0,0 0 0,0 1 0,0-1 0,0 0 0,0 0 0,0 0 0,0 1 0,0-1 0,0 0 0,0 0 0,0 1 0,0-1 0,0 0 0,0 0 0,0 0 0,0 1 0,0-1 0,0 0 0,-9 4 0,-19-2 0,27-2 0,-296 15 0,366-19 0,251-9 0,-26 13 0,-476 13 0,158-10 0,92-4 0,-23 2 0,58-7 0,106-38 0,-142 28 0,-36 13 0,-26 3 0,-12 0 0,-277 18 0,7 0 0,145-17 0,171-2 0,126 3 0,-143 0 0,0 1 0,0 0 0,0 2 0,-1 1 0,30 12 0,-31-11-151,1-1-1,0 0 0,0-2 0,1 0 1,-1-1-1,1-2 0,0 0 1,31-3-1,-37 2-6674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53D0C-6369-4F30-A663-82A0624E45D3}" type="datetimeFigureOut">
              <a:rPr lang="pt-PT" smtClean="0"/>
              <a:t>16/12/2025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A2D6F-FCA9-46D3-B579-26C5C9C10BF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8878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8598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Começámos por garantir a qualidade dos dados. Removemos duplicados e imagens irrelevantes, resultando num dataset final balanceado de </a:t>
            </a:r>
            <a:r>
              <a:rPr lang="pt-PT" b="1" dirty="0"/>
              <a:t>5000 imagens</a:t>
            </a:r>
            <a:r>
              <a:rPr lang="pt-PT" dirty="0"/>
              <a:t>.</a:t>
            </a:r>
          </a:p>
          <a:p>
            <a:r>
              <a:rPr lang="pt-PT" dirty="0"/>
              <a:t> A divisão foi feita em 70% para treino, 15% validação e 15% teste.“</a:t>
            </a:r>
          </a:p>
          <a:p>
            <a:endParaRPr lang="pt-PT" dirty="0"/>
          </a:p>
          <a:p>
            <a:r>
              <a:rPr lang="pt-PT" dirty="0"/>
              <a:t>O nosso grande objetivo foi passar de uma accuracy de cerca de 80% (obtida na </a:t>
            </a:r>
            <a:r>
              <a:rPr lang="pt-PT"/>
              <a:t>Meta anterior) </a:t>
            </a:r>
            <a:r>
              <a:rPr lang="pt-PT" dirty="0"/>
              <a:t>para cerca de </a:t>
            </a:r>
            <a:r>
              <a:rPr lang="pt-PT" b="1" dirty="0"/>
              <a:t>85% ou mais</a:t>
            </a:r>
            <a:r>
              <a:rPr lang="pt-PT" dirty="0"/>
              <a:t>, utilizando modelos pré-treinados e </a:t>
            </a:r>
            <a:r>
              <a:rPr lang="pt-PT" dirty="0" err="1"/>
              <a:t>re-otimização</a:t>
            </a:r>
            <a:r>
              <a:rPr lang="pt-PT" dirty="0"/>
              <a:t> com o algoritmo GWO."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6449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Para atingir esse objetivo, definimos etapas claras:</a:t>
            </a:r>
          </a:p>
          <a:p>
            <a:endParaRPr lang="pt-PT" dirty="0"/>
          </a:p>
          <a:p>
            <a:r>
              <a:rPr lang="pt-PT" dirty="0"/>
              <a:t>1 – Balancear o </a:t>
            </a:r>
            <a:r>
              <a:rPr lang="pt-PT" dirty="0" err="1"/>
              <a:t>dataset</a:t>
            </a:r>
            <a:r>
              <a:rPr lang="pt-PT" dirty="0"/>
              <a:t> de forma a ficar com 70% treino, 10% validação e 20% teste.</a:t>
            </a:r>
          </a:p>
          <a:p>
            <a:endParaRPr lang="pt-PT" dirty="0"/>
          </a:p>
          <a:p>
            <a:r>
              <a:rPr lang="pt-PT" dirty="0"/>
              <a:t>2 - comparar diferentes redes pré-treinadas (como </a:t>
            </a:r>
            <a:r>
              <a:rPr lang="pt-PT" dirty="0" err="1"/>
              <a:t>ResNet</a:t>
            </a:r>
            <a:r>
              <a:rPr lang="pt-PT" dirty="0"/>
              <a:t> e </a:t>
            </a:r>
            <a:r>
              <a:rPr lang="pt-PT" dirty="0" err="1"/>
              <a:t>MobileNet</a:t>
            </a:r>
            <a:r>
              <a:rPr lang="pt-PT" dirty="0"/>
              <a:t> e </a:t>
            </a:r>
            <a:r>
              <a:rPr lang="pt-PT" dirty="0" err="1"/>
              <a:t>EfficientNet</a:t>
            </a:r>
            <a:r>
              <a:rPr lang="pt-PT" dirty="0"/>
              <a:t>) para escolher a melhor base.</a:t>
            </a:r>
          </a:p>
          <a:p>
            <a:endParaRPr lang="pt-PT" dirty="0"/>
          </a:p>
          <a:p>
            <a:r>
              <a:rPr lang="pt-PT" dirty="0"/>
              <a:t>3 - aplicar </a:t>
            </a:r>
            <a:r>
              <a:rPr lang="pt-PT" b="1" dirty="0" err="1"/>
              <a:t>Transfer</a:t>
            </a:r>
            <a:r>
              <a:rPr lang="pt-PT" b="1" dirty="0"/>
              <a:t> </a:t>
            </a:r>
            <a:r>
              <a:rPr lang="pt-PT" b="1" dirty="0" err="1"/>
              <a:t>Learning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4 – otimizar a rede densa</a:t>
            </a:r>
          </a:p>
          <a:p>
            <a:endParaRPr lang="pt-PT" dirty="0"/>
          </a:p>
          <a:p>
            <a:r>
              <a:rPr lang="pt-PT" dirty="0"/>
              <a:t>5 - analisar se o tamanho do </a:t>
            </a:r>
            <a:r>
              <a:rPr lang="pt-PT" dirty="0" err="1"/>
              <a:t>dataset</a:t>
            </a:r>
            <a:r>
              <a:rPr lang="pt-PT" dirty="0"/>
              <a:t> influencia o desempenho.</a:t>
            </a:r>
          </a:p>
          <a:p>
            <a:endParaRPr lang="pt-PT" dirty="0"/>
          </a:p>
          <a:p>
            <a:r>
              <a:rPr lang="pt-PT" dirty="0"/>
              <a:t>6 – analisar diferenças entre GWO, </a:t>
            </a:r>
            <a:r>
              <a:rPr lang="pt-PT" dirty="0" err="1"/>
              <a:t>Grid</a:t>
            </a:r>
            <a:r>
              <a:rPr lang="pt-PT" dirty="0"/>
              <a:t> </a:t>
            </a:r>
            <a:r>
              <a:rPr lang="pt-PT" dirty="0" err="1"/>
              <a:t>Search</a:t>
            </a:r>
            <a:r>
              <a:rPr lang="pt-PT" dirty="0"/>
              <a:t> e </a:t>
            </a: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  <a:p>
            <a:endParaRPr lang="pt-PT" dirty="0"/>
          </a:p>
          <a:p>
            <a:r>
              <a:rPr lang="pt-PT" dirty="0"/>
              <a:t>7 - E finalmente implementar uma Web App de demonstração.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8022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 cumprir as instruções do enunciado, o dataset foi dividido de forma balanceada da seguinte forma:  (</a:t>
            </a:r>
            <a:r>
              <a:rPr lang="pt-PT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1ª imagem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Adicionalmente, foram criados quatro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sub-datasets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destinados a avaliar a influência da dimensão do conjunto de treino: (</a:t>
            </a:r>
            <a:r>
              <a:rPr lang="pt-PT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2ª imagem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8293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Antes de otimizar, precisávamos de escolher a melhor arquitetura. Então testámos três modelos do </a:t>
            </a:r>
            <a:r>
              <a:rPr lang="pt-PT" dirty="0" err="1"/>
              <a:t>Keras</a:t>
            </a:r>
            <a:r>
              <a:rPr lang="pt-PT" dirty="0"/>
              <a:t> </a:t>
            </a:r>
            <a:r>
              <a:rPr lang="pt-PT" dirty="0" err="1"/>
              <a:t>ImageNet</a:t>
            </a:r>
            <a:r>
              <a:rPr lang="pt-PT" dirty="0"/>
              <a:t>: </a:t>
            </a:r>
            <a:r>
              <a:rPr lang="pt-PT" b="1" dirty="0"/>
              <a:t>MobileNetV2</a:t>
            </a:r>
            <a:r>
              <a:rPr lang="pt-PT" dirty="0"/>
              <a:t>, </a:t>
            </a:r>
            <a:r>
              <a:rPr lang="pt-PT" b="1" dirty="0"/>
              <a:t>EfficientNetB0</a:t>
            </a:r>
            <a:r>
              <a:rPr lang="pt-PT" dirty="0"/>
              <a:t> e </a:t>
            </a:r>
            <a:r>
              <a:rPr lang="pt-PT" b="1" dirty="0"/>
              <a:t>ResNet50V2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Foram usados os mesmos hiperparâmetros nos 3 modelos: 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256 neurónios na única camada densa, 0.4 de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learning rate = 0.0001 e 25 épocas de treino.</a:t>
            </a:r>
          </a:p>
          <a:p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Ao analisar as tabelas conseguimos</a:t>
            </a:r>
          </a:p>
          <a:p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b="1" dirty="0"/>
              <a:t>EfficientNetB0</a:t>
            </a:r>
            <a:r>
              <a:rPr lang="pt-PT" dirty="0"/>
              <a:t>: Não convergiu de forma estável neste dataset, apresentando instabilidade no treino e falhas no teste. ( nunca conseguiu passar dos 0.20 e dava erro)</a:t>
            </a:r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b="1" dirty="0"/>
              <a:t>MobileNetV2</a:t>
            </a:r>
            <a:r>
              <a:rPr lang="pt-PT" dirty="0"/>
              <a:t>: É rápido e eficiente, mas a menor capacidade representativa limita a distinção entre classes semelhantes.</a:t>
            </a:r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b="1" dirty="0"/>
              <a:t>ResNet50V2</a:t>
            </a:r>
            <a:r>
              <a:rPr lang="pt-PT" dirty="0"/>
              <a:t>: Apesar de mais pesado, apresentou o melhor desempenho global e melhor capacidade de generalização.</a:t>
            </a:r>
          </a:p>
          <a:p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Conclusão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Decidimos avançar com a </a:t>
            </a:r>
            <a:r>
              <a:rPr lang="pt-PT" b="1" dirty="0"/>
              <a:t>ResNet50V2</a:t>
            </a:r>
            <a:r>
              <a:rPr lang="pt-PT" dirty="0"/>
              <a:t> devido ao seu maior desempenho global.</a:t>
            </a:r>
          </a:p>
          <a:p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Params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-&gt; </a:t>
            </a:r>
            <a:r>
              <a:rPr lang="pt-PT" dirty="0"/>
              <a:t>é o número de pesos que a rede tem para ajustar ( variaveis que se ajustam ao longo da aprendizagem da rede)</a:t>
            </a:r>
            <a:endParaRPr lang="pt-PT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8970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nossa estratégia baseou-se em aproveitar o conhecimento que a rede pré-treinada já tinha. Em vez de começarmos do zero, carregámos a ResNet50V2 apenas com a base convolucional, descartando a rede densa, que não servia para o nosso problema.</a:t>
            </a:r>
          </a:p>
          <a:p>
            <a:endParaRPr lang="pt-PT" dirty="0"/>
          </a:p>
          <a:p>
            <a:r>
              <a:rPr lang="pt-PT" dirty="0"/>
              <a:t>Um passo fundamental foi o </a:t>
            </a:r>
            <a:r>
              <a:rPr lang="pt-PT" b="1" dirty="0"/>
              <a:t>congelamento</a:t>
            </a:r>
            <a:r>
              <a:rPr lang="pt-PT" dirty="0"/>
              <a:t> dessa base convolucional. Na prática, isto significa que impedimos que os pesos da parte convolucional fossem alterados durante o treino. O objetivo é preservar as características visuais que a rede já sabe identificar como arestas e formas e focar o treino apenas na rede densa ( para criar a classificação das nossas classes específicas).</a:t>
            </a:r>
          </a:p>
          <a:p>
            <a:endParaRPr lang="pt-PT" dirty="0"/>
          </a:p>
          <a:p>
            <a:r>
              <a:rPr lang="pt-PT" dirty="0"/>
              <a:t>Sobre essa base congelada, construímos então a nossa própria rede densa, composta por:</a:t>
            </a:r>
          </a:p>
          <a:p>
            <a:r>
              <a:rPr lang="pt-PT" dirty="0"/>
              <a:t>Um </a:t>
            </a:r>
            <a:r>
              <a:rPr lang="pt-PT" b="1" dirty="0"/>
              <a:t>GlobalAveragePooling</a:t>
            </a:r>
            <a:r>
              <a:rPr lang="pt-PT" dirty="0"/>
              <a:t> (para reduzir a dimensionalidade); </a:t>
            </a:r>
          </a:p>
          <a:p>
            <a:r>
              <a:rPr lang="pt-PT" dirty="0"/>
              <a:t>Uma camada </a:t>
            </a:r>
            <a:r>
              <a:rPr lang="pt-PT" b="1" dirty="0"/>
              <a:t>Densa com ReLU</a:t>
            </a:r>
            <a:r>
              <a:rPr lang="pt-PT" dirty="0"/>
              <a:t> (cujo número de neurónios vamos otimizar); </a:t>
            </a:r>
          </a:p>
          <a:p>
            <a:r>
              <a:rPr lang="pt-PT" dirty="0"/>
              <a:t>Uma camada de </a:t>
            </a:r>
            <a:r>
              <a:rPr lang="pt-PT" b="1" dirty="0"/>
              <a:t>Dropout</a:t>
            </a:r>
            <a:r>
              <a:rPr lang="pt-PT" dirty="0"/>
              <a:t> para evitar </a:t>
            </a:r>
            <a:r>
              <a:rPr lang="pt-PT" i="1" dirty="0"/>
              <a:t>overfitting</a:t>
            </a:r>
            <a:r>
              <a:rPr lang="pt-PT" dirty="0"/>
              <a:t> (ou seja, para que a rede não decore os dados); </a:t>
            </a:r>
          </a:p>
          <a:p>
            <a:r>
              <a:rPr lang="pt-PT" dirty="0"/>
              <a:t>E, finalmente, a camada de saída com 5 neurónios e função de ativação </a:t>
            </a:r>
            <a:r>
              <a:rPr lang="pt-PT" b="1" dirty="0"/>
              <a:t>Softmax</a:t>
            </a:r>
            <a:r>
              <a:rPr lang="pt-PT" dirty="0"/>
              <a:t> (que nos dá as probabilidades para as 5 classes de carros).</a:t>
            </a:r>
          </a:p>
          <a:p>
            <a:endParaRPr lang="pt-PT" dirty="0"/>
          </a:p>
          <a:p>
            <a:r>
              <a:rPr lang="pt-PT" dirty="0"/>
              <a:t>Portanto, o nosso trabalho focou-se em treinar e otimizar apenas estas novas camadas, otimizando os valores dos hiperparâmetros que </a:t>
            </a:r>
            <a:r>
              <a:rPr lang="pt-PT" dirty="0" err="1"/>
              <a:t>vao</a:t>
            </a:r>
            <a:r>
              <a:rPr lang="pt-PT" dirty="0"/>
              <a:t> ser falados pelo meu colega á frente.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9033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1 – </a:t>
            </a:r>
            <a:r>
              <a:rPr lang="pt-PT" b="0" dirty="0"/>
              <a:t>Para aprofundar a comparação feita às 4 subpastas de treino fizemos uma otimização </a:t>
            </a:r>
            <a:r>
              <a:rPr lang="pt-PT" b="0" dirty="0" err="1"/>
              <a:t>swarm</a:t>
            </a:r>
            <a:r>
              <a:rPr lang="pt-PT" b="0" dirty="0"/>
              <a:t> (GWO) a cada uma dessas subpastas de forma a obter os melhores resultados possíveis para cada uma.</a:t>
            </a:r>
          </a:p>
          <a:p>
            <a:r>
              <a:rPr lang="pt-PT" b="1" dirty="0"/>
              <a:t>2 –</a:t>
            </a:r>
            <a:r>
              <a:rPr lang="pt-PT" b="0" dirty="0"/>
              <a:t> Na subpasta de treino com 700 imagens por classe (maior subpasta) fizemos 3 otimização de forma a proceder à comparação dos 3 optimizadores mencionados no enunciado.</a:t>
            </a:r>
          </a:p>
          <a:p>
            <a:endParaRPr lang="pt-PT" b="0" dirty="0"/>
          </a:p>
          <a:p>
            <a:r>
              <a:rPr lang="pt-PT" b="1" dirty="0"/>
              <a:t>3 – </a:t>
            </a:r>
            <a:r>
              <a:rPr lang="pt-PT" b="0" dirty="0"/>
              <a:t>A nível de </a:t>
            </a:r>
            <a:r>
              <a:rPr lang="pt-PT" b="0" dirty="0" err="1"/>
              <a:t>hiperparâmetros</a:t>
            </a:r>
            <a:r>
              <a:rPr lang="pt-PT" b="0" dirty="0"/>
              <a:t>, foram otimizados: </a:t>
            </a:r>
            <a:r>
              <a:rPr lang="pt-PT" b="1" dirty="0"/>
              <a:t>(…)</a:t>
            </a:r>
            <a:r>
              <a:rPr lang="pt-PT" b="0" dirty="0"/>
              <a:t>.</a:t>
            </a:r>
          </a:p>
          <a:p>
            <a:endParaRPr lang="pt-PT" b="0" dirty="0"/>
          </a:p>
          <a:p>
            <a:r>
              <a:rPr lang="pt-PT" b="1" dirty="0"/>
              <a:t>4 –</a:t>
            </a:r>
            <a:r>
              <a:rPr lang="pt-PT" b="0" dirty="0"/>
              <a:t> A nível de valores dos </a:t>
            </a:r>
            <a:r>
              <a:rPr lang="pt-PT" b="0" dirty="0" err="1"/>
              <a:t>hiperparâmetros</a:t>
            </a:r>
            <a:r>
              <a:rPr lang="pt-PT" b="0" dirty="0"/>
              <a:t> e n.º de modelos a treinar em cada otimizador: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dirty="0"/>
              <a:t>       - GWO -&gt; </a:t>
            </a:r>
            <a:r>
              <a:rPr lang="pt-PT" b="0" u="sng" dirty="0"/>
              <a:t>ler valores e intervalos:</a:t>
            </a:r>
            <a:r>
              <a:rPr lang="pt-PT" b="1" dirty="0"/>
              <a:t> (…). </a:t>
            </a:r>
            <a:r>
              <a:rPr lang="pt-PT" b="0" u="none" dirty="0"/>
              <a:t>Usámos 10 agentes e 10 iterações. Embora o GWO utilize 10 agentes e 10 iterações, em vez de serem treinados apenas 100 modelos (10*10</a:t>
            </a:r>
            <a:r>
              <a:rPr lang="pt-PT" u="none" dirty="0"/>
              <a:t>=100</a:t>
            </a:r>
            <a:r>
              <a:rPr lang="pt-PT" b="0" u="none" dirty="0"/>
              <a:t>), o número total de modelos treinados foram 140</a:t>
            </a:r>
            <a:r>
              <a:rPr lang="pt-PT" dirty="0"/>
              <a:t>, uma vez que inclui a avaliação inicial da população e reavaliações adicionais das melhores soluções (α, β e δ) ao longo do processo de otimização.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0" dirty="0"/>
              <a:t>       - </a:t>
            </a:r>
            <a:r>
              <a:rPr lang="pt-PT" b="1" dirty="0" err="1"/>
              <a:t>Grid</a:t>
            </a:r>
            <a:r>
              <a:rPr lang="pt-PT" b="1" dirty="0"/>
              <a:t> </a:t>
            </a:r>
            <a:r>
              <a:rPr lang="pt-PT" b="1" dirty="0" err="1"/>
              <a:t>Search</a:t>
            </a:r>
            <a:r>
              <a:rPr lang="pt-PT" dirty="0"/>
              <a:t>: </a:t>
            </a:r>
            <a:r>
              <a:rPr lang="pt-PT" b="0" u="sng" dirty="0"/>
              <a:t>ler valores e intervalos: </a:t>
            </a:r>
            <a:r>
              <a:rPr lang="pt-PT" b="1" dirty="0"/>
              <a:t>(…). </a:t>
            </a:r>
            <a:r>
              <a:rPr lang="pt-PT" dirty="0"/>
              <a:t>Valores discretos/estáticos, o n.º de modelos é igual à multiplicação  do n.º de campos de cada </a:t>
            </a:r>
            <a:r>
              <a:rPr lang="pt-PT" dirty="0" err="1"/>
              <a:t>hiperparâmetro</a:t>
            </a:r>
            <a:r>
              <a:rPr lang="pt-PT" dirty="0"/>
              <a:t>: 4*5*7 = 140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0" dirty="0"/>
              <a:t>       - </a:t>
            </a:r>
            <a:r>
              <a:rPr lang="pt-PT" b="1" dirty="0" err="1"/>
              <a:t>Random</a:t>
            </a:r>
            <a:r>
              <a:rPr lang="pt-PT" b="1" dirty="0"/>
              <a:t> </a:t>
            </a:r>
            <a:r>
              <a:rPr lang="pt-PT" b="1" dirty="0" err="1"/>
              <a:t>Search</a:t>
            </a:r>
            <a:r>
              <a:rPr lang="pt-PT" dirty="0"/>
              <a:t>: </a:t>
            </a:r>
            <a:r>
              <a:rPr lang="pt-PT" b="0" u="sng" dirty="0"/>
              <a:t>ler valores e intervalos: </a:t>
            </a:r>
            <a:r>
              <a:rPr lang="pt-PT" b="1" dirty="0"/>
              <a:t>(…). </a:t>
            </a:r>
            <a:r>
              <a:rPr lang="pt-PT" dirty="0"/>
              <a:t>Valores entre os intervalos mas completamente aleatórios. </a:t>
            </a:r>
            <a:r>
              <a:rPr lang="pt-PT" b="0" dirty="0"/>
              <a:t>A nível do n.º de modelos a serem treinados na otimização é definido numa variável: n=140.</a:t>
            </a:r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11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Fim das otimizações de cada </a:t>
            </a:r>
            <a:r>
              <a:rPr lang="pt-PT" dirty="0" err="1"/>
              <a:t>sub-pasta</a:t>
            </a:r>
            <a:r>
              <a:rPr lang="pt-PT" dirty="0"/>
              <a:t> de treino.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6453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Accuracy</a:t>
            </a:r>
            <a:r>
              <a:rPr lang="pt-PT" dirty="0"/>
              <a:t> em função das épocas de treino. Cada ponto azul é cada modelo treinado durante a otimização.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8582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Intervalos de </a:t>
            </a:r>
            <a:r>
              <a:rPr lang="pt-PT" dirty="0" err="1"/>
              <a:t>dropout</a:t>
            </a:r>
            <a:r>
              <a:rPr lang="pt-PT" dirty="0"/>
              <a:t> por neurónios estáticos e por média de </a:t>
            </a:r>
            <a:r>
              <a:rPr lang="pt-PT" dirty="0" err="1"/>
              <a:t>accuracy</a:t>
            </a:r>
            <a:r>
              <a:rPr lang="pt-PT" dirty="0"/>
              <a:t>.</a:t>
            </a:r>
          </a:p>
          <a:p>
            <a:r>
              <a:rPr lang="pt-PT" dirty="0"/>
              <a:t>Falar em cada um onde está a melhor média de </a:t>
            </a:r>
            <a:r>
              <a:rPr lang="pt-PT" dirty="0" err="1"/>
              <a:t>acc</a:t>
            </a:r>
            <a:r>
              <a:rPr lang="pt-PT" dirty="0"/>
              <a:t>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2683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Accuracy</a:t>
            </a:r>
            <a:r>
              <a:rPr lang="pt-PT" dirty="0"/>
              <a:t> ao decorrer dos modelos treinados durante a otimização.</a:t>
            </a:r>
          </a:p>
          <a:p>
            <a:endParaRPr lang="pt-PT" dirty="0"/>
          </a:p>
          <a:p>
            <a:r>
              <a:rPr lang="pt-PT" dirty="0"/>
              <a:t>Mencionar que infelizmente, devido ao reduzido n.º de imagens no </a:t>
            </a:r>
            <a:r>
              <a:rPr lang="pt-PT" dirty="0" err="1"/>
              <a:t>dataset</a:t>
            </a:r>
            <a:r>
              <a:rPr lang="pt-PT" dirty="0"/>
              <a:t> não:</a:t>
            </a:r>
          </a:p>
          <a:p>
            <a:r>
              <a:rPr lang="pt-PT" dirty="0"/>
              <a:t> - </a:t>
            </a:r>
            <a:r>
              <a:rPr lang="pt-PT" sz="1200" dirty="0"/>
              <a:t>fosse possível confirmar que menos de 700 imagens por classe seriam suficientes</a:t>
            </a:r>
          </a:p>
          <a:p>
            <a:r>
              <a:rPr lang="pt-PT" sz="1200" dirty="0"/>
              <a:t> - ou até alcançar melhores resultados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0742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Fim das otimizações na </a:t>
            </a:r>
            <a:r>
              <a:rPr lang="pt-PT" dirty="0" err="1"/>
              <a:t>sub</a:t>
            </a:r>
            <a:r>
              <a:rPr lang="pt-PT" dirty="0"/>
              <a:t>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1541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Intervalos de </a:t>
            </a:r>
            <a:r>
              <a:rPr lang="pt-PT" dirty="0" err="1"/>
              <a:t>dropout</a:t>
            </a:r>
            <a:r>
              <a:rPr lang="pt-PT" dirty="0"/>
              <a:t> por neurónios estáticos e por média de </a:t>
            </a:r>
            <a:r>
              <a:rPr lang="pt-PT" dirty="0" err="1"/>
              <a:t>accuracy</a:t>
            </a:r>
            <a:r>
              <a:rPr lang="pt-PT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Falar em cada um onde está a melhor média de </a:t>
            </a:r>
            <a:r>
              <a:rPr lang="pt-PT" dirty="0" err="1"/>
              <a:t>acc</a:t>
            </a:r>
            <a:r>
              <a:rPr lang="pt-PT" dirty="0"/>
              <a:t>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493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8F41-AFC1-D439-6D17-28D023FC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A33BF95-5B7B-205E-B0BC-E57C9C7D6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B997A51-6E36-FF0B-AD2F-7991F5B2B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Accuracy</a:t>
            </a:r>
            <a:r>
              <a:rPr lang="pt-PT" dirty="0"/>
              <a:t> ao decorrer dos modelos treinados durante as 3 otimizações.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1B4846D-2E38-0CB1-C8D5-1E4CD5867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9527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9BBE-EB85-BDA7-1C4A-A7E26984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EEB6488-AAF4-4567-D31A-3694E7FEC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554CA2C-5B70-1036-1A05-132182C96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Densidade, ou seja o quão mais o otimizador teve resultados naquele intervalo de </a:t>
            </a:r>
            <a:r>
              <a:rPr lang="pt-PT" dirty="0" err="1"/>
              <a:t>accuracy</a:t>
            </a:r>
            <a:r>
              <a:rPr lang="pt-PT" dirty="0"/>
              <a:t>.</a:t>
            </a:r>
          </a:p>
          <a:p>
            <a:r>
              <a:rPr lang="pt-PT" dirty="0"/>
              <a:t>Neste caso, como o GWO teve BASTANTES (~ dobro do </a:t>
            </a:r>
            <a:r>
              <a:rPr lang="pt-PT" dirty="0" err="1"/>
              <a:t>Random</a:t>
            </a:r>
            <a:r>
              <a:rPr lang="pt-PT" dirty="0"/>
              <a:t>) modelos que resultaram numa </a:t>
            </a:r>
            <a:r>
              <a:rPr lang="pt-PT" dirty="0" err="1"/>
              <a:t>acc</a:t>
            </a:r>
            <a:r>
              <a:rPr lang="pt-PT" dirty="0"/>
              <a:t> de validação entre 0.90 e 0.94, a densidade foi muito maior aí.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5492143-0D85-0A9A-4803-8BB99A133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7690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matriz de confusão demonstra uma classificação consistente na maioria das classes, com erros residuais concentrados sobretudo entre </a:t>
            </a:r>
            <a:r>
              <a:rPr lang="pt-PT" sz="1200" b="0" i="1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Coupe</a:t>
            </a:r>
            <a:r>
              <a:rPr lang="pt-PT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 </a:t>
            </a:r>
            <a:r>
              <a:rPr lang="pt-PT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Sedan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refletindo a proximidade visual entre estas carroçarias. 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638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.jpe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eras.io/api/applications/" TargetMode="Externa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B8FF7-141C-620F-0B50-58211D04E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80" y="504222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pt-PT" dirty="0"/>
              <a:t>Classificação de carrocerias de automóveis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2045F1-CCC1-793D-C86B-A34B4693D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pt-PT" dirty="0"/>
              <a:t>Meta III – Inteligência computacional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D0CB3-C80A-0713-B9D4-351B5AF84D80}"/>
              </a:ext>
            </a:extLst>
          </p:cNvPr>
          <p:cNvSpPr txBox="1"/>
          <p:nvPr/>
        </p:nvSpPr>
        <p:spPr>
          <a:xfrm>
            <a:off x="9103958" y="5306007"/>
            <a:ext cx="2840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Pedro Saraiva – 2023146226</a:t>
            </a:r>
          </a:p>
          <a:p>
            <a:r>
              <a:rPr lang="pt-PT" dirty="0"/>
              <a:t>Daniel Soares – 2023144661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14:cNvPr>
              <p14:cNvContentPartPr/>
              <p14:nvPr/>
            </p14:nvContentPartPr>
            <p14:xfrm>
              <a:off x="7394931" y="3443091"/>
              <a:ext cx="77040" cy="1594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8811" y="3436971"/>
                <a:ext cx="89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14:cNvPr>
              <p14:cNvContentPartPr/>
              <p14:nvPr/>
            </p14:nvContentPartPr>
            <p14:xfrm>
              <a:off x="7489251" y="3470811"/>
              <a:ext cx="36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1251" y="34528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14:cNvPr>
              <p14:cNvContentPartPr/>
              <p14:nvPr/>
            </p14:nvContentPartPr>
            <p14:xfrm>
              <a:off x="7319691" y="3384771"/>
              <a:ext cx="249840" cy="2970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2051" y="3366771"/>
                <a:ext cx="2854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14:cNvPr>
              <p14:cNvContentPartPr/>
              <p14:nvPr/>
            </p14:nvContentPartPr>
            <p14:xfrm>
              <a:off x="7528851" y="3489531"/>
              <a:ext cx="362160" cy="572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10851" y="3471891"/>
                <a:ext cx="397800" cy="928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D8C7F6E-BFB4-4267-77D9-348A5B1AD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366" y="2339399"/>
            <a:ext cx="4392410" cy="22100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4029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F9356-6765-4810-EFCC-44C4781B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Enquadramento do Trabalho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C963908-8AD1-998E-09E9-49DA09554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20000"/>
          </a:bodyPr>
          <a:lstStyle/>
          <a:p>
            <a:r>
              <a:rPr lang="pt-PT" dirty="0"/>
              <a:t>Preparação e limpeza do dataset</a:t>
            </a:r>
          </a:p>
          <a:p>
            <a:pPr lvl="1"/>
            <a:r>
              <a:rPr lang="pt-PT" dirty="0"/>
              <a:t>Remoção de imagens duplicadas</a:t>
            </a:r>
          </a:p>
          <a:p>
            <a:pPr lvl="1"/>
            <a:r>
              <a:rPr lang="pt-PT" dirty="0"/>
              <a:t>Eliminação de imagens irrelevantes, com ruído ou baixa qualidade</a:t>
            </a:r>
          </a:p>
          <a:p>
            <a:r>
              <a:rPr lang="pt-PT" dirty="0"/>
              <a:t>Dataset final equilibrado (5000 imagens):</a:t>
            </a:r>
          </a:p>
          <a:p>
            <a:pPr lvl="1"/>
            <a:r>
              <a:rPr lang="pt-PT" dirty="0"/>
              <a:t>Treino: 700 imagens por classe (total: 3500, ~70%)</a:t>
            </a:r>
          </a:p>
          <a:p>
            <a:pPr lvl="1"/>
            <a:r>
              <a:rPr lang="pt-PT" dirty="0"/>
              <a:t>Validação: 150 imagens por classe (total: 750, ~15%)</a:t>
            </a:r>
          </a:p>
          <a:p>
            <a:pPr lvl="1"/>
            <a:r>
              <a:rPr lang="pt-PT" dirty="0"/>
              <a:t>Teste:150 imagens por classe(total: 750, ~15%)</a:t>
            </a:r>
          </a:p>
          <a:p>
            <a:r>
              <a:rPr lang="pt-PT" dirty="0" err="1"/>
              <a:t>Reotimização</a:t>
            </a:r>
            <a:r>
              <a:rPr lang="pt-PT" dirty="0"/>
              <a:t> do modelo</a:t>
            </a:r>
          </a:p>
          <a:p>
            <a:pPr lvl="1"/>
            <a:r>
              <a:rPr lang="pt-PT" dirty="0"/>
              <a:t>Nova otimização dos hiperparâmetros com </a:t>
            </a:r>
            <a:r>
              <a:rPr lang="pt-PT" dirty="0" err="1"/>
              <a:t>Grey</a:t>
            </a:r>
            <a:r>
              <a:rPr lang="pt-PT" dirty="0"/>
              <a:t> </a:t>
            </a:r>
            <a:r>
              <a:rPr lang="pt-PT" dirty="0" err="1"/>
              <a:t>Wolf</a:t>
            </a:r>
            <a:r>
              <a:rPr lang="pt-PT" dirty="0"/>
              <a:t> </a:t>
            </a:r>
            <a:r>
              <a:rPr lang="pt-PT" dirty="0" err="1"/>
              <a:t>Optimizer</a:t>
            </a:r>
            <a:r>
              <a:rPr lang="pt-PT" dirty="0"/>
              <a:t> (GWO)</a:t>
            </a:r>
          </a:p>
          <a:p>
            <a:pPr lvl="1"/>
            <a:r>
              <a:rPr lang="pt-PT" dirty="0"/>
              <a:t>Avaliação final no conjunto de teste independente</a:t>
            </a:r>
          </a:p>
          <a:p>
            <a:r>
              <a:rPr lang="pt-PT" dirty="0"/>
              <a:t>Melhoria significativa da </a:t>
            </a:r>
            <a:r>
              <a:rPr lang="pt-PT" dirty="0" err="1"/>
              <a:t>accuracy</a:t>
            </a:r>
            <a:r>
              <a:rPr lang="pt-PT" dirty="0"/>
              <a:t>: ~80% → ~85%</a:t>
            </a:r>
          </a:p>
        </p:txBody>
      </p:sp>
    </p:spTree>
    <p:extLst>
      <p:ext uri="{BB962C8B-B14F-4D97-AF65-F5344CB8AC3E}">
        <p14:creationId xmlns:p14="http://schemas.microsoft.com/office/powerpoint/2010/main" val="181135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A2132-499C-3CF1-5B34-2B723FC3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Descrição do problema – objetivos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991EA5E-DCBC-B305-4D0A-C7DF97618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pt-PT" dirty="0"/>
              <a:t>Preparação de um dataset balanceado com divisão em treino, validação e teste (20%)</a:t>
            </a:r>
          </a:p>
          <a:p>
            <a:r>
              <a:rPr lang="pt-PT" dirty="0"/>
              <a:t>Comparação entre 3 redes pré-treinadas mencionadas no enunciado: </a:t>
            </a:r>
            <a:r>
              <a:rPr lang="pt-PT" dirty="0" err="1"/>
              <a:t>ResNet</a:t>
            </a:r>
            <a:r>
              <a:rPr lang="pt-PT" dirty="0"/>
              <a:t>; </a:t>
            </a:r>
            <a:r>
              <a:rPr lang="pt-PT" dirty="0" err="1"/>
              <a:t>MobileNet</a:t>
            </a:r>
            <a:r>
              <a:rPr lang="pt-PT" dirty="0"/>
              <a:t> e </a:t>
            </a:r>
            <a:r>
              <a:rPr lang="pt-PT" dirty="0" err="1"/>
              <a:t>EfficientNet</a:t>
            </a:r>
            <a:r>
              <a:rPr lang="pt-PT" dirty="0"/>
              <a:t> </a:t>
            </a:r>
          </a:p>
          <a:p>
            <a:r>
              <a:rPr lang="pt-PT" dirty="0"/>
              <a:t>Aplicação de uma dessas redes pré-treinadas ao nosso dataset</a:t>
            </a:r>
          </a:p>
          <a:p>
            <a:r>
              <a:rPr lang="pt-PT" dirty="0"/>
              <a:t>Otimização das camadas densas superiores (top </a:t>
            </a:r>
            <a:r>
              <a:rPr lang="pt-PT" dirty="0" err="1"/>
              <a:t>layers</a:t>
            </a:r>
            <a:r>
              <a:rPr lang="pt-PT" dirty="0"/>
              <a:t>)</a:t>
            </a:r>
          </a:p>
          <a:p>
            <a:r>
              <a:rPr lang="pt-PT" dirty="0"/>
              <a:t>Análise comparativa da influência de diferentes tamanhos de conjuntos de treino</a:t>
            </a:r>
          </a:p>
          <a:p>
            <a:r>
              <a:rPr lang="pt-PT" dirty="0"/>
              <a:t>Estudo da sensibilidade aos hiperparâmetros: GWO, </a:t>
            </a:r>
            <a:r>
              <a:rPr lang="pt-PT" dirty="0" err="1"/>
              <a:t>Grid</a:t>
            </a:r>
            <a:r>
              <a:rPr lang="pt-PT" dirty="0"/>
              <a:t> </a:t>
            </a:r>
            <a:r>
              <a:rPr lang="pt-PT" dirty="0" err="1"/>
              <a:t>Search</a:t>
            </a:r>
            <a:r>
              <a:rPr lang="pt-PT" dirty="0"/>
              <a:t> e </a:t>
            </a: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  <a:p>
            <a:r>
              <a:rPr lang="pt-PT" dirty="0"/>
              <a:t>Implementação de uma aplicação web para classificação em tempo real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2821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8ED6E-7114-513F-805A-1CB24FE3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DATASET E </a:t>
            </a:r>
            <a:r>
              <a:rPr lang="pt-PT" dirty="0" err="1"/>
              <a:t>SUB-pastas</a:t>
            </a:r>
            <a:r>
              <a:rPr lang="pt-PT" dirty="0"/>
              <a:t> de TREINO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267C6F-415F-3857-1234-58EA69E49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196" y="1983606"/>
            <a:ext cx="7550011" cy="178180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91E0F77-2B67-90E6-6350-B7D0F0477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195" y="3895261"/>
            <a:ext cx="7550012" cy="215822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32842D4-693F-3E02-E233-271B639507D8}"/>
              </a:ext>
            </a:extLst>
          </p:cNvPr>
          <p:cNvSpPr txBox="1"/>
          <p:nvPr/>
        </p:nvSpPr>
        <p:spPr>
          <a:xfrm>
            <a:off x="1451579" y="1983606"/>
            <a:ext cx="196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Divisão do dataset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5C93E5-4600-6FEC-8243-49F9AF5BD29A}"/>
              </a:ext>
            </a:extLst>
          </p:cNvPr>
          <p:cNvSpPr txBox="1"/>
          <p:nvPr/>
        </p:nvSpPr>
        <p:spPr>
          <a:xfrm>
            <a:off x="1451578" y="3895261"/>
            <a:ext cx="208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Sub-pastas</a:t>
            </a:r>
            <a:r>
              <a:rPr lang="pt-PT" dirty="0"/>
              <a:t> de treino</a:t>
            </a:r>
          </a:p>
        </p:txBody>
      </p:sp>
    </p:spTree>
    <p:extLst>
      <p:ext uri="{BB962C8B-B14F-4D97-AF65-F5344CB8AC3E}">
        <p14:creationId xmlns:p14="http://schemas.microsoft.com/office/powerpoint/2010/main" val="59912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1FBF9-351B-25AC-9AF6-CD1F8722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redes Pré-Treinadas Avaliadas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AD77D916-B1FB-FC55-AB0F-945F286E0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87113" y="3943565"/>
            <a:ext cx="7666295" cy="208743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6CC45C3-AFA2-6606-D56F-D682798A4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113" y="1953514"/>
            <a:ext cx="7666295" cy="181691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22BEC0C-490A-A8CD-B9E0-820A6348FA3D}"/>
              </a:ext>
            </a:extLst>
          </p:cNvPr>
          <p:cNvSpPr txBox="1"/>
          <p:nvPr/>
        </p:nvSpPr>
        <p:spPr>
          <a:xfrm>
            <a:off x="1138591" y="1953514"/>
            <a:ext cx="246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Tabela de comparação do </a:t>
            </a:r>
            <a:r>
              <a:rPr lang="pt-PT" dirty="0">
                <a:hlinkClick r:id="rId5"/>
              </a:rPr>
              <a:t>Keras</a:t>
            </a:r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837E98-E438-C3BC-A99D-47EBD912E737}"/>
              </a:ext>
            </a:extLst>
          </p:cNvPr>
          <p:cNvSpPr txBox="1"/>
          <p:nvPr/>
        </p:nvSpPr>
        <p:spPr>
          <a:xfrm>
            <a:off x="1138591" y="3943565"/>
            <a:ext cx="246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Tabela de comparação ao nosso problema</a:t>
            </a:r>
          </a:p>
        </p:txBody>
      </p:sp>
    </p:spTree>
    <p:extLst>
      <p:ext uri="{BB962C8B-B14F-4D97-AF65-F5344CB8AC3E}">
        <p14:creationId xmlns:p14="http://schemas.microsoft.com/office/powerpoint/2010/main" val="401710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6E3B3-4927-CAC7-5A6C-9B2C2581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Estratégia usada de Transfer </a:t>
            </a:r>
            <a:r>
              <a:rPr lang="pt-PT" dirty="0" err="1"/>
              <a:t>Learning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1256A43-6031-113C-097A-DBC96528F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15732"/>
            <a:ext cx="9603275" cy="3778782"/>
          </a:xfrm>
        </p:spPr>
        <p:txBody>
          <a:bodyPr>
            <a:normAutofit/>
          </a:bodyPr>
          <a:lstStyle/>
          <a:p>
            <a:r>
              <a:rPr lang="pt-PT" dirty="0"/>
              <a:t>Extração apenas da base </a:t>
            </a:r>
            <a:r>
              <a:rPr lang="pt-PT" dirty="0" err="1"/>
              <a:t>convulsional</a:t>
            </a:r>
            <a:r>
              <a:rPr lang="pt-PT" dirty="0"/>
              <a:t> da rede pré-treinada (excluindo top </a:t>
            </a:r>
            <a:r>
              <a:rPr lang="pt-PT" dirty="0" err="1"/>
              <a:t>layers</a:t>
            </a:r>
            <a:r>
              <a:rPr lang="pt-PT" dirty="0"/>
              <a:t>)</a:t>
            </a:r>
          </a:p>
          <a:p>
            <a:r>
              <a:rPr lang="pt-PT" dirty="0"/>
              <a:t>Congelamento da base </a:t>
            </a:r>
            <a:r>
              <a:rPr lang="pt-PT" dirty="0" err="1"/>
              <a:t>convulsional</a:t>
            </a:r>
            <a:r>
              <a:rPr lang="pt-PT" dirty="0"/>
              <a:t> no treino – treinar apenas a rede densa</a:t>
            </a:r>
          </a:p>
          <a:p>
            <a:r>
              <a:rPr lang="pt-PT" dirty="0"/>
              <a:t>Construção da rede densa:</a:t>
            </a:r>
          </a:p>
          <a:p>
            <a:pPr lvl="1"/>
            <a:r>
              <a:rPr lang="pt-PT" dirty="0"/>
              <a:t>GlobalAveragePooling2D </a:t>
            </a:r>
          </a:p>
          <a:p>
            <a:pPr lvl="1"/>
            <a:r>
              <a:rPr lang="pt-PT" dirty="0"/>
              <a:t>Dense(</a:t>
            </a:r>
            <a:r>
              <a:rPr lang="pt-PT" dirty="0" err="1"/>
              <a:t>units</a:t>
            </a:r>
            <a:r>
              <a:rPr lang="pt-PT" dirty="0"/>
              <a:t>/neurónios) com </a:t>
            </a:r>
            <a:r>
              <a:rPr lang="pt-PT" dirty="0" err="1"/>
              <a:t>ReLU</a:t>
            </a:r>
            <a:r>
              <a:rPr lang="pt-PT" dirty="0"/>
              <a:t> </a:t>
            </a:r>
          </a:p>
          <a:p>
            <a:pPr lvl="1"/>
            <a:r>
              <a:rPr lang="pt-PT" dirty="0" err="1"/>
              <a:t>Dropout</a:t>
            </a:r>
            <a:endParaRPr lang="pt-PT" dirty="0"/>
          </a:p>
          <a:p>
            <a:pPr lvl="1"/>
            <a:r>
              <a:rPr lang="pt-PT" dirty="0"/>
              <a:t>Dense(5, </a:t>
            </a:r>
            <a:r>
              <a:rPr lang="pt-PT" dirty="0" err="1"/>
              <a:t>softmax</a:t>
            </a:r>
            <a:r>
              <a:rPr lang="pt-PT" dirty="0"/>
              <a:t>)</a:t>
            </a:r>
          </a:p>
        </p:txBody>
      </p:sp>
      <p:pic>
        <p:nvPicPr>
          <p:cNvPr id="1032" name="Picture 8" descr="Resnet50v2 and LSTM-based visual baseline model's architecture. The... |  Download Scientific Diagram">
            <a:extLst>
              <a:ext uri="{FF2B5EF4-FFF2-40B4-BE49-F238E27FC236}">
                <a16:creationId xmlns:a16="http://schemas.microsoft.com/office/drawing/2014/main" id="{F24D6557-91A4-29E9-3F06-9EE0EC72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780" y="4531881"/>
            <a:ext cx="7175638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83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F68CE-D9A5-22D2-E835-13DECF62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Métodos de otimização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B17E75C-DA0F-C0D9-2A4B-F4D831075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10000"/>
          </a:bodyPr>
          <a:lstStyle/>
          <a:p>
            <a:r>
              <a:rPr lang="pt-PT" dirty="0" err="1"/>
              <a:t>Híperparametros</a:t>
            </a:r>
            <a:r>
              <a:rPr lang="pt-PT" dirty="0"/>
              <a:t> otimizados:</a:t>
            </a:r>
          </a:p>
          <a:p>
            <a:pPr lvl="1"/>
            <a:r>
              <a:rPr lang="pt-PT" dirty="0"/>
              <a:t>Nº neurónios da camada densa</a:t>
            </a:r>
          </a:p>
          <a:p>
            <a:pPr lvl="1"/>
            <a:r>
              <a:rPr lang="pt-PT" dirty="0" err="1"/>
              <a:t>Dropout</a:t>
            </a:r>
            <a:endParaRPr lang="pt-PT" dirty="0"/>
          </a:p>
          <a:p>
            <a:pPr lvl="1"/>
            <a:r>
              <a:rPr lang="pt-PT" dirty="0" err="1"/>
              <a:t>Learning</a:t>
            </a:r>
            <a:r>
              <a:rPr lang="pt-PT" dirty="0"/>
              <a:t> rate</a:t>
            </a:r>
          </a:p>
          <a:p>
            <a:r>
              <a:rPr lang="pt-PT" dirty="0" err="1"/>
              <a:t>Grey</a:t>
            </a:r>
            <a:r>
              <a:rPr lang="pt-PT" dirty="0"/>
              <a:t> </a:t>
            </a:r>
            <a:r>
              <a:rPr lang="pt-PT" dirty="0" err="1"/>
              <a:t>Wolf</a:t>
            </a:r>
            <a:r>
              <a:rPr lang="pt-PT" dirty="0"/>
              <a:t> </a:t>
            </a:r>
            <a:r>
              <a:rPr lang="pt-PT" dirty="0" err="1"/>
              <a:t>Optimizer</a:t>
            </a:r>
            <a:r>
              <a:rPr lang="pt-PT" dirty="0"/>
              <a:t> (</a:t>
            </a:r>
            <a:r>
              <a:rPr lang="pt-PT" dirty="0" err="1"/>
              <a:t>Swarm</a:t>
            </a:r>
            <a:r>
              <a:rPr lang="pt-PT" dirty="0"/>
              <a:t>) </a:t>
            </a:r>
          </a:p>
          <a:p>
            <a:pPr lvl="1"/>
            <a:r>
              <a:rPr lang="pt-PT" dirty="0"/>
              <a:t>→ neurónios: [128, 256, 512];             </a:t>
            </a:r>
            <a:r>
              <a:rPr lang="pt-PT" dirty="0" err="1"/>
              <a:t>dropout</a:t>
            </a:r>
            <a:r>
              <a:rPr lang="pt-PT" dirty="0"/>
              <a:t>: 0.30 a 0.70;                           </a:t>
            </a:r>
            <a:r>
              <a:rPr lang="pt-PT" dirty="0" err="1"/>
              <a:t>lr</a:t>
            </a:r>
            <a:r>
              <a:rPr lang="pt-PT" dirty="0"/>
              <a:t>: 0.00001 a 0.001</a:t>
            </a:r>
          </a:p>
          <a:p>
            <a:r>
              <a:rPr lang="pt-PT" dirty="0" err="1"/>
              <a:t>Grid</a:t>
            </a:r>
            <a:r>
              <a:rPr lang="pt-PT" dirty="0"/>
              <a:t> </a:t>
            </a:r>
            <a:r>
              <a:rPr lang="pt-PT" dirty="0" err="1"/>
              <a:t>Search</a:t>
            </a:r>
            <a:r>
              <a:rPr lang="pt-PT" dirty="0"/>
              <a:t> </a:t>
            </a:r>
          </a:p>
          <a:p>
            <a:pPr lvl="1"/>
            <a:r>
              <a:rPr lang="pt-PT" dirty="0"/>
              <a:t>→ neurónios: [128, 256, 512, 1024];    </a:t>
            </a:r>
            <a:r>
              <a:rPr lang="pt-PT" dirty="0" err="1"/>
              <a:t>dropout</a:t>
            </a:r>
            <a:r>
              <a:rPr lang="pt-PT" dirty="0"/>
              <a:t>: [0.30, 0.40, 0.50, 0.60, 0.70]; </a:t>
            </a:r>
          </a:p>
          <a:p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Search</a:t>
            </a:r>
            <a:r>
              <a:rPr lang="pt-PT" dirty="0"/>
              <a:t> </a:t>
            </a:r>
          </a:p>
          <a:p>
            <a:pPr lvl="1"/>
            <a:r>
              <a:rPr lang="pt-PT" dirty="0"/>
              <a:t>→ neurónios: [128, 256, 512];             </a:t>
            </a:r>
            <a:r>
              <a:rPr lang="pt-PT" dirty="0" err="1"/>
              <a:t>dropout</a:t>
            </a:r>
            <a:r>
              <a:rPr lang="pt-PT" dirty="0"/>
              <a:t>: 0.30 a 0.70;                           </a:t>
            </a:r>
            <a:r>
              <a:rPr lang="pt-PT" dirty="0" err="1"/>
              <a:t>lr</a:t>
            </a:r>
            <a:r>
              <a:rPr lang="pt-PT" dirty="0"/>
              <a:t>: 0.00001 a 0.001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A3EB585D-89E1-5814-F958-9B27A025B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2B7F033-4566-82F3-919C-A40FA3A863B9}"/>
              </a:ext>
            </a:extLst>
          </p:cNvPr>
          <p:cNvSpPr txBox="1"/>
          <p:nvPr/>
        </p:nvSpPr>
        <p:spPr>
          <a:xfrm>
            <a:off x="8883172" y="4634915"/>
            <a:ext cx="2816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lr</a:t>
            </a:r>
            <a:r>
              <a:rPr lang="pt-PT" dirty="0"/>
              <a:t>: [0.00001, 0.00003, 0.0001, 0.0003, 0.001, 0.003, 0.01]</a:t>
            </a:r>
          </a:p>
        </p:txBody>
      </p:sp>
    </p:spTree>
    <p:extLst>
      <p:ext uri="{BB962C8B-B14F-4D97-AF65-F5344CB8AC3E}">
        <p14:creationId xmlns:p14="http://schemas.microsoft.com/office/powerpoint/2010/main" val="323439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8AF74-CB87-8CD0-C30F-7D50FBD4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1 – </a:t>
            </a:r>
            <a:r>
              <a:rPr lang="pt-PT" dirty="0" err="1"/>
              <a:t>sub-treinos</a:t>
            </a:r>
            <a:r>
              <a:rPr lang="pt-PT" dirty="0"/>
              <a:t> 150 A 700 IMAGENS POR CLASSE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CE0FF5-BBD3-D826-29CB-7E7DBDCAD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83" y="2123687"/>
            <a:ext cx="5469622" cy="192107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414BD5C-3981-2C13-6B2C-A9AE6118BB7C}"/>
              </a:ext>
            </a:extLst>
          </p:cNvPr>
          <p:cNvSpPr txBox="1"/>
          <p:nvPr/>
        </p:nvSpPr>
        <p:spPr>
          <a:xfrm>
            <a:off x="-55332" y="289955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150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30FD5B-B2F0-9144-5284-E601410CB6AE}"/>
              </a:ext>
            </a:extLst>
          </p:cNvPr>
          <p:cNvSpPr txBox="1"/>
          <p:nvPr/>
        </p:nvSpPr>
        <p:spPr>
          <a:xfrm>
            <a:off x="5981339" y="289955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300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C326BFD-2C5F-4F96-09DC-7C6982F50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386" y="2123686"/>
            <a:ext cx="5436066" cy="192107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80AAF5C-D2D4-8325-C39C-ACD082005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83" y="4168984"/>
            <a:ext cx="5469622" cy="1929468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E5606FF4-D1D1-124A-2C1E-3215B3530B8A}"/>
              </a:ext>
            </a:extLst>
          </p:cNvPr>
          <p:cNvSpPr txBox="1"/>
          <p:nvPr/>
        </p:nvSpPr>
        <p:spPr>
          <a:xfrm>
            <a:off x="-30956" y="494905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500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69535F0-36CF-47A5-9FCF-907096ADED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386" y="4168984"/>
            <a:ext cx="5436066" cy="1895912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BAFCB333-CF91-FBFA-0A88-27F8C7C9A16C}"/>
              </a:ext>
            </a:extLst>
          </p:cNvPr>
          <p:cNvSpPr txBox="1"/>
          <p:nvPr/>
        </p:nvSpPr>
        <p:spPr>
          <a:xfrm>
            <a:off x="5987758" y="493227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700</a:t>
            </a:r>
          </a:p>
        </p:txBody>
      </p:sp>
    </p:spTree>
    <p:extLst>
      <p:ext uri="{BB962C8B-B14F-4D97-AF65-F5344CB8AC3E}">
        <p14:creationId xmlns:p14="http://schemas.microsoft.com/office/powerpoint/2010/main" val="287914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EC1E-2075-1F4B-B487-DD9AD65D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F5B8E-5532-27E7-2460-A3857881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2 – </a:t>
            </a:r>
            <a:r>
              <a:rPr lang="pt-PT" dirty="0" err="1"/>
              <a:t>sub-treinos</a:t>
            </a:r>
            <a:r>
              <a:rPr lang="pt-PT" dirty="0"/>
              <a:t> 150 A 700 IMAGENS POR CLASSE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C3B36B5-74FB-9190-CE4B-36C05BF36B98}"/>
              </a:ext>
            </a:extLst>
          </p:cNvPr>
          <p:cNvSpPr txBox="1"/>
          <p:nvPr/>
        </p:nvSpPr>
        <p:spPr>
          <a:xfrm>
            <a:off x="1100801" y="289955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150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D102D6-DD02-D59D-F723-EE20CEB45927}"/>
              </a:ext>
            </a:extLst>
          </p:cNvPr>
          <p:cNvSpPr txBox="1"/>
          <p:nvPr/>
        </p:nvSpPr>
        <p:spPr>
          <a:xfrm>
            <a:off x="6178265" y="289955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300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2599910-FCD5-34F6-98DB-AEA38C13A911}"/>
              </a:ext>
            </a:extLst>
          </p:cNvPr>
          <p:cNvSpPr txBox="1"/>
          <p:nvPr/>
        </p:nvSpPr>
        <p:spPr>
          <a:xfrm>
            <a:off x="1100801" y="540940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500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FCC51E0-F49F-53B2-8F31-DB3A197F8A9D}"/>
              </a:ext>
            </a:extLst>
          </p:cNvPr>
          <p:cNvSpPr txBox="1"/>
          <p:nvPr/>
        </p:nvSpPr>
        <p:spPr>
          <a:xfrm>
            <a:off x="6253216" y="540795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700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D026CD-D4B8-9B6A-CB5A-1C77895EE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097" y="1929459"/>
            <a:ext cx="3607266" cy="230953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94ECB50-F4B5-4FFE-3682-9994BA3CC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654" y="1929459"/>
            <a:ext cx="3607266" cy="23111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37F16D0-0041-ADD8-1ED1-8D83EE9ED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748" y="4439308"/>
            <a:ext cx="3606917" cy="230953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851D550-B113-0D50-1902-07036F23F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654" y="4436404"/>
            <a:ext cx="3606917" cy="231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8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E7D7-D9F9-040E-FFA7-8D706A74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097E5-E6F7-AD23-8DD9-A877DAB0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3 – </a:t>
            </a:r>
            <a:r>
              <a:rPr lang="pt-PT" dirty="0" err="1"/>
              <a:t>sub-treinos</a:t>
            </a:r>
            <a:r>
              <a:rPr lang="pt-PT" dirty="0"/>
              <a:t> 150 A 700 IMAGENS POR CLASSE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8ABD1A-5E19-DF46-3CAA-4923EF56DAF8}"/>
              </a:ext>
            </a:extLst>
          </p:cNvPr>
          <p:cNvSpPr txBox="1"/>
          <p:nvPr/>
        </p:nvSpPr>
        <p:spPr>
          <a:xfrm>
            <a:off x="1631716" y="289955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150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2DFCAB1-3801-8EC4-D2E6-85F781FE82B8}"/>
              </a:ext>
            </a:extLst>
          </p:cNvPr>
          <p:cNvSpPr txBox="1"/>
          <p:nvPr/>
        </p:nvSpPr>
        <p:spPr>
          <a:xfrm>
            <a:off x="6243673" y="291106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300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148CE63-41D4-BDE9-91B4-8E9DC61B57F0}"/>
              </a:ext>
            </a:extLst>
          </p:cNvPr>
          <p:cNvSpPr txBox="1"/>
          <p:nvPr/>
        </p:nvSpPr>
        <p:spPr>
          <a:xfrm>
            <a:off x="1631716" y="540446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500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CE7CEE0-5A5E-0B37-8ED9-6A6908C1113F}"/>
              </a:ext>
            </a:extLst>
          </p:cNvPr>
          <p:cNvSpPr txBox="1"/>
          <p:nvPr/>
        </p:nvSpPr>
        <p:spPr>
          <a:xfrm>
            <a:off x="6253216" y="540795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700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6BD8F8-E269-D2AB-278A-B6AD9DB90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81" y="1884489"/>
            <a:ext cx="2952006" cy="24224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C215CFC-B202-E5B5-4D8F-A0353E89D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654" y="1884489"/>
            <a:ext cx="2952006" cy="242361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5505C35-1F7D-00CF-098A-0C164B585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581" y="4368434"/>
            <a:ext cx="2952006" cy="245683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CCBC2EB-FBA9-717C-E816-C1A908BB6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654" y="4363741"/>
            <a:ext cx="2952006" cy="245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3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15781-2B34-E21F-6B4B-8AB7C8E7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4 – </a:t>
            </a:r>
            <a:r>
              <a:rPr lang="pt-PT" dirty="0" err="1"/>
              <a:t>sub-treinos</a:t>
            </a:r>
            <a:r>
              <a:rPr lang="pt-PT" dirty="0"/>
              <a:t> 150 A 700 IMAGENS POR CLASSE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68CADD-8B64-AB1A-0135-BD713A7C1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847" y="2037791"/>
            <a:ext cx="7232306" cy="386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6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C8C11-1829-D0DF-CE9D-A4EA5036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1 – </a:t>
            </a:r>
            <a:r>
              <a:rPr lang="pt-PT" dirty="0" err="1"/>
              <a:t>Otimizadores</a:t>
            </a:r>
            <a:r>
              <a:rPr lang="pt-PT" dirty="0"/>
              <a:t>: GWO, GRID E RANDOM na pasta de treino com 700 imagens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70947C-14C0-429C-D3F7-5926FCA5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84" y="2061320"/>
            <a:ext cx="5033394" cy="17554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06DBAD7-EF9D-C3EA-2DDF-2F42D6675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914" y="2939057"/>
            <a:ext cx="5033394" cy="18959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A0AFB5E-5E88-7107-83D8-03E2C8E4C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284" y="4126510"/>
            <a:ext cx="5033394" cy="175547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F59C3FC-2A8C-DFAF-AFDD-8841D4C012B3}"/>
              </a:ext>
            </a:extLst>
          </p:cNvPr>
          <p:cNvSpPr txBox="1"/>
          <p:nvPr/>
        </p:nvSpPr>
        <p:spPr>
          <a:xfrm>
            <a:off x="0" y="2554319"/>
            <a:ext cx="1161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GWO (</a:t>
            </a:r>
            <a:r>
              <a:rPr lang="pt-PT" dirty="0" err="1"/>
              <a:t>Swarm</a:t>
            </a:r>
            <a:r>
              <a:rPr lang="pt-PT" dirty="0"/>
              <a:t>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DA1460-7BAB-9CD1-854B-646DE764A9BF}"/>
              </a:ext>
            </a:extLst>
          </p:cNvPr>
          <p:cNvSpPr txBox="1"/>
          <p:nvPr/>
        </p:nvSpPr>
        <p:spPr>
          <a:xfrm>
            <a:off x="8002880" y="2508152"/>
            <a:ext cx="195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Grid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541C4F-1D99-FCCC-EE48-F57839F19B54}"/>
              </a:ext>
            </a:extLst>
          </p:cNvPr>
          <p:cNvSpPr txBox="1"/>
          <p:nvPr/>
        </p:nvSpPr>
        <p:spPr>
          <a:xfrm>
            <a:off x="0" y="4834969"/>
            <a:ext cx="1161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38778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C138-4DB5-FAE8-C60B-78CD7F5D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98E21-642A-D395-CD44-79E3BECC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2 – </a:t>
            </a:r>
            <a:r>
              <a:rPr lang="pt-PT" dirty="0" err="1"/>
              <a:t>Otimizadores</a:t>
            </a:r>
            <a:r>
              <a:rPr lang="pt-PT" dirty="0"/>
              <a:t>: GWO, GRID E RANDOM na pasta de treino com 700 imagens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617B7DA-DB6E-911E-4AFD-5A386D4D5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3" y="2312310"/>
            <a:ext cx="3595172" cy="273654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8DC3282-B667-96B9-7C3B-56C819AC2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396" y="3316933"/>
            <a:ext cx="3596883" cy="273654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8BCC689-DD43-EBAE-B04B-5301B53FF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261" y="2267698"/>
            <a:ext cx="3609496" cy="27365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AD82349D-8580-39AC-E8EF-670D37B02C20}"/>
              </a:ext>
            </a:extLst>
          </p:cNvPr>
          <p:cNvSpPr txBox="1"/>
          <p:nvPr/>
        </p:nvSpPr>
        <p:spPr>
          <a:xfrm>
            <a:off x="1235098" y="1898366"/>
            <a:ext cx="195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GWO (</a:t>
            </a:r>
            <a:r>
              <a:rPr lang="pt-PT" dirty="0" err="1"/>
              <a:t>Swarm</a:t>
            </a:r>
            <a:r>
              <a:rPr lang="pt-PT" dirty="0"/>
              <a:t>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01EF3C5-96E8-5764-EE7F-EF2648E73C23}"/>
              </a:ext>
            </a:extLst>
          </p:cNvPr>
          <p:cNvSpPr txBox="1"/>
          <p:nvPr/>
        </p:nvSpPr>
        <p:spPr>
          <a:xfrm>
            <a:off x="5117269" y="2867730"/>
            <a:ext cx="195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Grid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2E6C86-0F20-2DAA-1C71-B4A480ED19A4}"/>
              </a:ext>
            </a:extLst>
          </p:cNvPr>
          <p:cNvSpPr txBox="1"/>
          <p:nvPr/>
        </p:nvSpPr>
        <p:spPr>
          <a:xfrm>
            <a:off x="8992278" y="1900622"/>
            <a:ext cx="195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5229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10BF-1DF7-92CC-E519-2A82CCCB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3E83F-CC16-3E47-0491-1CE057CB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3 – </a:t>
            </a:r>
            <a:r>
              <a:rPr lang="pt-PT" dirty="0" err="1"/>
              <a:t>Otimizadores</a:t>
            </a:r>
            <a:r>
              <a:rPr lang="pt-PT" dirty="0"/>
              <a:t>: GWO, GRID E RANDOM na pasta de treino com 700 imagens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65123A-8E8E-BDAA-6129-3E172B0B8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390" y="2015840"/>
            <a:ext cx="7285220" cy="392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68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4CF4-9D09-61F1-CDB8-D93EA82C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DFCCC-CF4B-53D5-4FD4-D16E63CE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4 – </a:t>
            </a:r>
            <a:r>
              <a:rPr lang="pt-PT" dirty="0" err="1"/>
              <a:t>Otimizadores</a:t>
            </a:r>
            <a:r>
              <a:rPr lang="pt-PT" dirty="0"/>
              <a:t>: GWO, GRID E RANDOM na pasta de treino com 700 imagens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0514A4-D843-97EC-B5DE-029E056E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340" y="2007477"/>
            <a:ext cx="7197319" cy="393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58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53B37-4BD5-1B88-D6B9-959A8DC4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Avaliação no conjunto de teste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5C12B0-D3CB-71B2-D759-F5EA1DD8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944" y="2075570"/>
            <a:ext cx="3623638" cy="356796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B380694-5327-5F84-E540-52CA10136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875" y="2075570"/>
            <a:ext cx="3815076" cy="357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23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C991C-E171-6204-8904-688DD715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WEB APP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5AB5134-15E1-53EA-804E-125DDD518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440" y="1896408"/>
            <a:ext cx="3129899" cy="41901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BDE41F-F8D8-8FCE-D95F-F01A57D8A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62" y="1896408"/>
            <a:ext cx="3402311" cy="419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96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0DAD5-EE0F-3CC3-7E94-7492CC6A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cONCLUSÕES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EF483A7-C149-DED3-4298-D32C8E528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03307"/>
            <a:ext cx="9603275" cy="4150174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pt-PT" sz="1300" dirty="0"/>
              <a:t>O uso de Transfer </a:t>
            </a:r>
            <a:r>
              <a:rPr lang="pt-PT" sz="1300" dirty="0" err="1"/>
              <a:t>Learning</a:t>
            </a:r>
            <a:r>
              <a:rPr lang="pt-PT" sz="1300" dirty="0"/>
              <a:t> demonstrou clara eficácia, superando a CNN da Meta II e permitindo obter elevada </a:t>
            </a:r>
            <a:r>
              <a:rPr lang="pt-PT" sz="1300" dirty="0" err="1"/>
              <a:t>accuracy</a:t>
            </a:r>
            <a:r>
              <a:rPr lang="pt-PT" sz="1300" dirty="0"/>
              <a:t> com menor esforço de treino (~85% → 92%).</a:t>
            </a:r>
          </a:p>
          <a:p>
            <a:pPr>
              <a:lnSpc>
                <a:spcPct val="140000"/>
              </a:lnSpc>
            </a:pPr>
            <a:r>
              <a:rPr lang="pt-PT" sz="1300" dirty="0"/>
              <a:t>A rede ResNet50V2 destacou-se como a melhor arquitetura, apresentando maior capacidade representativa e melhor equilíbrio entre desempenho e robustez.</a:t>
            </a:r>
          </a:p>
          <a:p>
            <a:pPr>
              <a:lnSpc>
                <a:spcPct val="140000"/>
              </a:lnSpc>
            </a:pPr>
            <a:r>
              <a:rPr lang="pt-PT" sz="1300" dirty="0"/>
              <a:t>A análise dos </a:t>
            </a:r>
            <a:r>
              <a:rPr lang="pt-PT" sz="1300" dirty="0" err="1"/>
              <a:t>sub-treinos</a:t>
            </a:r>
            <a:r>
              <a:rPr lang="pt-PT" sz="1300" dirty="0"/>
              <a:t> revelou que a redução do número de imagens por classe (150, 300 e 500) não comprometeu significativamente a performance.</a:t>
            </a:r>
          </a:p>
          <a:p>
            <a:pPr>
              <a:lnSpc>
                <a:spcPct val="140000"/>
              </a:lnSpc>
            </a:pPr>
            <a:r>
              <a:rPr lang="pt-PT" sz="1300" dirty="0"/>
              <a:t>A limitação no número de imagens de qualidade disponíveis impediu a avaliação com conjuntos de treino mais extensos.</a:t>
            </a:r>
          </a:p>
          <a:p>
            <a:pPr>
              <a:lnSpc>
                <a:spcPct val="140000"/>
              </a:lnSpc>
            </a:pPr>
            <a:r>
              <a:rPr lang="pt-PT" sz="1300" dirty="0"/>
              <a:t>É plausível que, com mais dados, fosse possível confirmar que menos de 700 imagens por classe seriam suficientes ou até alcançar melhores resultados.</a:t>
            </a:r>
          </a:p>
          <a:p>
            <a:pPr>
              <a:lnSpc>
                <a:spcPct val="140000"/>
              </a:lnSpc>
            </a:pPr>
            <a:r>
              <a:rPr lang="pt-PT" sz="1300" dirty="0"/>
              <a:t>Na otimização de hiperparâmetros, o </a:t>
            </a:r>
            <a:r>
              <a:rPr lang="pt-PT" sz="1300" dirty="0" err="1"/>
              <a:t>Grey</a:t>
            </a:r>
            <a:r>
              <a:rPr lang="pt-PT" sz="1300" dirty="0"/>
              <a:t> </a:t>
            </a:r>
            <a:r>
              <a:rPr lang="pt-PT" sz="1300" dirty="0" err="1"/>
              <a:t>Wolf</a:t>
            </a:r>
            <a:r>
              <a:rPr lang="pt-PT" sz="1300" dirty="0"/>
              <a:t> </a:t>
            </a:r>
            <a:r>
              <a:rPr lang="pt-PT" sz="1300" dirty="0" err="1"/>
              <a:t>Optimizer</a:t>
            </a:r>
            <a:r>
              <a:rPr lang="pt-PT" sz="1300" dirty="0"/>
              <a:t> (GWO) apresentou resultados mais consistentes e estáveis face ao </a:t>
            </a:r>
            <a:r>
              <a:rPr lang="pt-PT" sz="1300" dirty="0" err="1"/>
              <a:t>Grid</a:t>
            </a:r>
            <a:r>
              <a:rPr lang="pt-PT" sz="1300" dirty="0"/>
              <a:t> </a:t>
            </a:r>
            <a:r>
              <a:rPr lang="pt-PT" sz="1300" dirty="0" err="1"/>
              <a:t>Search</a:t>
            </a:r>
            <a:r>
              <a:rPr lang="pt-PT" sz="1300" dirty="0"/>
              <a:t> e ao </a:t>
            </a:r>
            <a:r>
              <a:rPr lang="pt-PT" sz="1300" dirty="0" err="1"/>
              <a:t>Random</a:t>
            </a:r>
            <a:r>
              <a:rPr lang="pt-PT" sz="1300" dirty="0"/>
              <a:t> </a:t>
            </a:r>
            <a:r>
              <a:rPr lang="pt-PT" sz="1300" dirty="0" err="1"/>
              <a:t>Search</a:t>
            </a:r>
            <a:r>
              <a:rPr lang="pt-PT" sz="1300" dirty="0"/>
              <a:t>.</a:t>
            </a:r>
          </a:p>
          <a:p>
            <a:pPr>
              <a:lnSpc>
                <a:spcPct val="140000"/>
              </a:lnSpc>
            </a:pPr>
            <a:r>
              <a:rPr lang="pt-PT" sz="1300" dirty="0"/>
              <a:t>A aplicação web desenvolvida permitiu validar o modelo em ambiente real, reforçando a aplicabilidade prática da solução proposta.</a:t>
            </a:r>
          </a:p>
        </p:txBody>
      </p:sp>
    </p:spTree>
    <p:extLst>
      <p:ext uri="{BB962C8B-B14F-4D97-AF65-F5344CB8AC3E}">
        <p14:creationId xmlns:p14="http://schemas.microsoft.com/office/powerpoint/2010/main" val="1808251746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{8B42C8C8-AADD-4AEA-A109-DB2F98750917}TFc986dd65-aaf0-4d5c-bef9-9c391ee05f7be76530a6-0ca6c874b13b</Template>
  <TotalTime>2144</TotalTime>
  <Words>1808</Words>
  <Application>Microsoft Office PowerPoint</Application>
  <PresentationFormat>Ecrã Panorâmico</PresentationFormat>
  <Paragraphs>173</Paragraphs>
  <Slides>18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 MT</vt:lpstr>
      <vt:lpstr>Galeria</vt:lpstr>
      <vt:lpstr>Classificação de carrocerias de automóveis </vt:lpstr>
      <vt:lpstr>Enquadramento do Trabalho</vt:lpstr>
      <vt:lpstr>Descrição do problema – objetivos</vt:lpstr>
      <vt:lpstr>DATASET E SUB-pastas de TREINO</vt:lpstr>
      <vt:lpstr>redes Pré-Treinadas Avaliadas</vt:lpstr>
      <vt:lpstr>Estratégia usada de Transfer Learning</vt:lpstr>
      <vt:lpstr>Métodos de otimização</vt:lpstr>
      <vt:lpstr>Comparação 1 – sub-treinos 150 A 700 IMAGENS POR CLASSE</vt:lpstr>
      <vt:lpstr>Comparação 2 – sub-treinos 150 A 700 IMAGENS POR CLASSE</vt:lpstr>
      <vt:lpstr>Comparação 3 – sub-treinos 150 A 700 IMAGENS POR CLASSE</vt:lpstr>
      <vt:lpstr>Comparação 4 – sub-treinos 150 A 700 IMAGENS POR CLASSE</vt:lpstr>
      <vt:lpstr>Comparação 1 – Otimizadores: GWO, GRID E RANDOM na pasta de treino com 700 imagens</vt:lpstr>
      <vt:lpstr>Comparação 2 – Otimizadores: GWO, GRID E RANDOM na pasta de treino com 700 imagens</vt:lpstr>
      <vt:lpstr>Comparação 3 – Otimizadores: GWO, GRID E RANDOM na pasta de treino com 700 imagens</vt:lpstr>
      <vt:lpstr>Comparação 4 – Otimizadores: GWO, GRID E RANDOM na pasta de treino com 700 imagens</vt:lpstr>
      <vt:lpstr>Avaliação no conjunto de teste</vt:lpstr>
      <vt:lpstr>WEB APP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Saraiva</dc:creator>
  <cp:lastModifiedBy>Pedro Miguel Pires Saraiva</cp:lastModifiedBy>
  <cp:revision>172</cp:revision>
  <cp:lastPrinted>2025-12-15T07:00:48Z</cp:lastPrinted>
  <dcterms:created xsi:type="dcterms:W3CDTF">2025-09-23T01:41:49Z</dcterms:created>
  <dcterms:modified xsi:type="dcterms:W3CDTF">2025-12-16T19:27:28Z</dcterms:modified>
</cp:coreProperties>
</file>