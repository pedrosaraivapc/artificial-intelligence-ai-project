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82" r:id="rId3"/>
    <p:sldId id="283" r:id="rId4"/>
    <p:sldId id="286" r:id="rId5"/>
    <p:sldId id="287" r:id="rId6"/>
    <p:sldId id="291" r:id="rId7"/>
    <p:sldId id="288" r:id="rId8"/>
    <p:sldId id="289" r:id="rId9"/>
    <p:sldId id="290" r:id="rId10"/>
    <p:sldId id="292" r:id="rId11"/>
    <p:sldId id="293" r:id="rId12"/>
    <p:sldId id="294" r:id="rId13"/>
    <p:sldId id="296" r:id="rId14"/>
    <p:sldId id="295" r:id="rId15"/>
    <p:sldId id="297" r:id="rId16"/>
    <p:sldId id="299" r:id="rId17"/>
    <p:sldId id="298" r:id="rId18"/>
    <p:sldId id="300" r:id="rId19"/>
    <p:sldId id="301" r:id="rId20"/>
    <p:sldId id="302" r:id="rId21"/>
    <p:sldId id="303" r:id="rId22"/>
    <p:sldId id="285" r:id="rId23"/>
    <p:sldId id="30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3" autoAdjust="0"/>
    <p:restoredTop sz="78235" autoAdjust="0"/>
  </p:normalViewPr>
  <p:slideViewPr>
    <p:cSldViewPr snapToGrid="0">
      <p:cViewPr varScale="1">
        <p:scale>
          <a:sx n="93" d="100"/>
          <a:sy n="93" d="100"/>
        </p:scale>
        <p:origin x="10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D4670755-50FB-3064-0640-1595FE45BD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1FA29E04-1287-B477-9858-B3D410D88F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55C59-FFEC-4B7C-91D0-70338C24FFBA}" type="datetimeFigureOut">
              <a:rPr lang="pt-PT" smtClean="0"/>
              <a:t>21/11/2025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A60511C-54A1-C118-C00C-F7C08E2EE0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0545ABE-56A6-1D3D-FF73-D23182E238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C0547-DAE0-4AE8-8C32-33548EBEC97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737250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03.111"/>
    </inkml:context>
    <inkml:brush xml:id="br0">
      <inkml:brushProperty name="width" value="0.035" units="cm"/>
      <inkml:brushProperty name="height" value="0.035" units="cm"/>
      <inkml:brushProperty name="color" value="#E6E3DF"/>
    </inkml:brush>
  </inkml:definitions>
  <inkml:trace contextRef="#ctx0" brushRef="#br0">141 9 24575,'1'34'0,"-1"0"0,-2-1 0,-2 1 0,-1 0 0,-17 60 0,-13 15 0,32-136 0,5 6 0,0 1 0,2 0 0,0 0 0,2 0 0,10-27 0,49-91 0,-35 79 0,-24 51 0,-2 8 0,0 21 0,-4 41 0,-1-55 0,-1 139 0,1-223 0,-2 69 0,-3 14 0,-5 18 0,2 7 0,1 0 0,-4 35 0,-11 43 0,19-102 0,2-8 0,-3-17 0,1-26 0,5-11 0,-1 42 0,0 38 0,0 98 0,-4-204 0,-21-122 0,18 182 0,7 21 0,-1 0 0,1 0 0,0 0 0,-1 0 0,1 0 0,0 0 0,0 0 0,-1 0 0,1 0 0,0 0 0,0 0 0,-1 0 0,1 1 0,0-1 0,-1 0 0,1 0 0,0 0 0,0 0 0,-1 0 0,1 1 0,0-1 0,0 0 0,0 0 0,-1 0 0,1 1 0,0-1 0,0 0 0,0 0 0,0 0 0,-1 1 0,1-1 0,0 0 0,0 0 0,0 1 0,0-1 0,0 0 0,0 1 0,-16 43 0,12-30 0,-13 36 0,8-29 0,1 0 0,2 0 0,0 1 0,1-1 0,-3 39 0,27-345 0,-10 322 0,-5-10 0,29 145 0,-32-170 0,1-7 0,0-19 0,0-35 0,-3-170 0,1 229 0,0 0 0,1-1 0,-1 1 0,0 0 0,0-1 0,0 1 0,0-1 0,0 1 0,0 0 0,0-1 0,0 1 0,0 0 0,0-1 0,0 1 0,0-1 0,0 1 0,0 0 0,0-1 0,0 1 0,0 0 0,0-1 0,-1 1 0,1 0 0,0-1 0,0 1 0,0 0 0,-1-1 0,1 1 0,0 0 0,0 0 0,-1-1 0,1 1 0,0 0 0,0 0 0,-1-1 0,-6 15 0,-9 35 0,15-45 0,-38 138 0,36-186 0,3 25 0,0 46 0,0-5 0,1-1 0,0 1 0,2-1 0,6 28 0,8-137 0,-16 81 0,3-17 0,1 21 0,3 14 0,4 14-682,16 46-1,-20-48-6143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07.426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25.192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350 101 24575,'-1'21'0,"-2"0"0,-1-1 0,0 0 0,-1 0 0,-2 0 0,-14 32 0,10-25 0,1 0 0,-10 48 0,17-62 0,1 2 0,0 1 0,-2-1 0,0 0 0,-1 0 0,-6 14 0,6-63 0,1-35 0,-8-203 0,12 262 0,0 5 0,1 0 0,-1 0 0,-1 0 0,1 0 0,-1 0 0,0 1 0,0-1 0,-3-9 0,4 14 0,0 0 0,-1 0 0,1 0 0,0 0 0,0 0 0,0 0 0,-1 0 0,1 0 0,0 0 0,0 0 0,0 0 0,-1 0 0,1 0 0,0 0 0,0 0 0,0 0 0,-1 0 0,1 0 0,0 1 0,0-1 0,0 0 0,0 0 0,-1 0 0,1 0 0,0 0 0,0 0 0,0 1 0,0-1 0,0 0 0,-1 0 0,1 0 0,0 1 0,0-1 0,0 0 0,0 0 0,0 0 0,0 1 0,0-1 0,0 0 0,0 0 0,0 0 0,0 1 0,0-1 0,0 0 0,0 0 0,0 0 0,0 1 0,0-1 0,0 0 0,0 0 0,0 0 0,0 1 0,0-1 0,-3 15 0,1 23 0,4 51 0,0-67 0,-1 1 0,-1 0 0,0 0 0,-2 0 0,-1 0 0,-10 39 0,13-62 0,0-1 0,0 1 0,0 0 0,0 0 0,0 0 0,0 0 0,0 0 0,0 0 0,0 0 0,0 0 0,0 0 0,-1 0 0,1-1 0,0 1 0,0 0 0,0 0 0,0 0 0,0 0 0,0 0 0,0 0 0,0 0 0,0 0 0,0 0 0,0 0 0,0 0 0,0 0 0,0 0 0,-1 0 0,1 0 0,0 0 0,0 0 0,0 0 0,0 0 0,0 0 0,0 0 0,0 0 0,0 0 0,0 0 0,0 0 0,-1 0 0,1 0 0,0 0 0,0 0 0,0 0 0,0 0 0,0 0 0,0 0 0,0 0 0,0 0 0,0 0 0,0 0 0,-1 0 0,1 0 0,0 0 0,0 0 0,0 0 0,0 0 0,0 0 0,0 0 0,0 0 0,0 1 0,0-1 0,0 0 0,-5-15 0,0-18 0,-3-300 0,-7 486 0,-3 58 0,17-53 0,7-284 0,5 1 0,34-153 0,-42 262 0,-3 22 0,-4 28 0,-92 479 0,103-642 0,40-282 0,-48 530 0,2-55 0,-2 269 0,1-333 0,0 0 0,0 0 0,-1 1 0,1-1 0,0 0 0,0 1 0,0-1 0,0 0 0,0 1 0,0-1 0,0 0 0,0 1 0,0-1 0,0 0 0,0 0 0,0 1 0,0-1 0,0 0 0,0 1 0,0-1 0,0 0 0,0 1 0,1-1 0,-1 0 0,0 0 0,0 1 0,0-1 0,0 0 0,1 0 0,-1 1 0,0-1 0,0 0 0,1 0 0,-1 0 0,0 1 0,0-1 0,1 0 0,-1 0 0,8-12 0,6-28 0,55-226 0,-7 18 0,-95 505 0,28-222 0,-1-1 0,-2 0 0,-1 0 0,-2-1 0,-24 51 0,34-83 0,1 0 0,0 0 0,-1 0 0,1 0 0,0 0 0,-1 0 0,1-1 0,-1 1 0,0 0 0,1 0 0,-1-1 0,1 1 0,-1-1 0,0 1 0,0 0 0,1-1 0,-1 1 0,0-1 0,0 1 0,0-1 0,0 0 0,1 1 0,-1-1 0,0 0 0,0 0 0,0 0 0,0 1 0,-1-1 0,0-1 0,1 0 0,0 1 0,-1-1 0,1 0 0,0 0 0,0 0 0,0 0 0,0 0 0,-1 0 0,1 0 0,1 0 0,-1 0 0,0 0 0,0-1 0,-1-1 0,-2-6 0,0-1 0,0 1 0,0-1 0,-1-9 0,-19-126 0,16 97 0,5 31 0,0 1 0,0-24 0,4 26 0,-1-20 0,0 32 0,0 1 0,0 0 0,0 0 0,0-1 0,0 1 0,-1 0 0,1 0 0,0-1 0,-1 1 0,1 0 0,-1 0 0,1 0 0,-1 0 0,0-1 0,0 1 0,1 0 0,-1 0 0,0 0 0,-1-1 0,1 2 0,0 0 0,0 0 0,1 0 0,-1 1 0,0-1 0,0 0 0,1 0 0,-1 0 0,0 1 0,0-1 0,1 0 0,-1 1 0,0-1 0,1 0 0,-1 1 0,0-1 0,1 1 0,-1-1 0,1 1 0,-1-1 0,1 1 0,-1 0 0,1-1 0,-1 1 0,1 0 0,-1-1 0,1 1 0,0 0 0,0-1 0,-1 1 0,1 0 0,0 0 0,0 1 0,-12 30 0,12-30 0,-11 45 0,8-33 0,0 0 0,0 0 0,-9 18 0,9-23 0,-1 1 0,2 0 0,-1 0 0,1-1 0,1 2 0,-1 13 0,4 66 0,0-32 0,-3 10 0,3 71 0,-2-136 0,0 0 0,1 0 0,-1 0 0,1 0 0,0 0 0,0-1 0,0 1 0,1 0 0,-1-1 0,0 1 0,1-1 0,0 1 0,-1-1 0,1 0 0,0 0 0,0 0 0,1 0 0,2 2 0,3 2 0,1-1 0,0 0 0,0-1 0,10 3 0,8 5 0,-23-11 0,-1 1 0,1 0 0,0-1 0,0 0 0,0 0 0,0 0 0,0 0 0,1-1 0,-1 1 0,0-1 0,0 0 0,0 0 0,0-1 0,1 1 0,-1-1 0,6-2 0,-5 1 0,-1 0 0,1-1 0,-1 1 0,1-1 0,-1 0 0,0-1 0,0 1 0,0-1 0,-1 1 0,1-1 0,-1 0 0,0-1 0,3-4 0,40-68 0,-2-3 0,44-119 0,-88 199 0,0-1 0,0 1 0,0-1 0,1 1 0,-1-1 0,0 1 0,0-1 0,0 1 0,1-1 0,-1 1 0,0-1 0,0 1 0,1-1 0,-1 1 0,0 0 0,1-1 0,-1 1 0,1-1 0,-1 1 0,0 0 0,1-1 0,-1 1 0,1 0 0,-1 0 0,1-1 0,-1 1 0,1 0 0,-1 0 0,1 0 0,7 12 0,0 26 0,-5 42 0,-3-75 0,0-17 0,0-10 0,-1-132 0,1 314 0,-1-154 0,-1-7 0,-5-14 0,-7-29 0,0-5 0,-32-132 0,46 180 0,0 1 0,0 0 0,0-1 0,0 1 0,0-1 0,0 1 0,0-1 0,0 1 0,0 0 0,0-1 0,0 1 0,0-1 0,0 1 0,-1 0 0,1-1 0,0 1 0,0-1 0,0 1 0,-1 0 0,1-1 0,0 1 0,0 0 0,-1 0 0,1-1 0,0 1 0,-1 0 0,1-1 0,0 1 0,-1 0 0,0-1 0,-5 14 0,-4 30 0,10-39 0,-11 57 0,-3 0 0,-34 92 0,42-143 0,2-14 0,1-21 0,2 21 0,-13-215 0,15 209 0,3 11 0,8 23 0,11 41 0,23 137 0,-46-202 0,0 0 0,-1 1 0,1-1 0,0 0 0,0 0 0,0 0 0,0 0 0,0 0 0,0 1 0,0-1 0,0 0 0,1 0 0,-1 0 0,0 0 0,0 0 0,0 1 0,0-1 0,0 0 0,0 0 0,0 0 0,0 0 0,0 0 0,0 1 0,0-1 0,0 0 0,1 0 0,-1 0 0,0 0 0,0 0 0,0 0 0,0 0 0,0 0 0,0 0 0,1 1 0,-1-1 0,0 0 0,0 0 0,0 0 0,0 0 0,1 0 0,-1 0 0,0 0 0,0 0 0,0 0 0,0 0 0,0 0 0,1 0 0,-1 0 0,0 0 0,0 0 0,0 0 0,0-1 0,1 1 0,5-10 0,3-19 0,-9 29 0,90-271 0,-89 269 0,-1 0 0,1-1 0,0 1 0,0 0 0,0-1 0,0 1 0,1 0 0,-1 0 0,0 0 0,1 0 0,0 0 0,-1 1 0,1-1 0,4-3 0,-6 5 0,1 0 0,0 0 0,-1 0 0,1 0 0,-1 0 0,1 0 0,0 0 0,-1 0 0,1 0 0,0 0 0,-1 0 0,1 0 0,-1 0 0,1 0 0,0 0 0,-1 1 0,1-1 0,-1 0 0,1 1 0,-1-1 0,2 1 0,14 18 0,-7 1 0,0-1 0,-1 1 0,10 40 0,5 15 0,-16-66 0,-3-15 0,1-30 0,-1 11 0,-2 31 0,0 0 0,-1 0 0,1 0 0,0 12 0,-3-53 0,-8-184 0,9 208 0,7 33 0,8 40 0,-13-52 0,-2-7 0,0 0 0,1 0 0,-1 0 0,1 0 0,0 0 0,0 0 0,0 0 0,0 0 0,0 0 0,3 4 0,-3-7 0,-1 0 0,0 0 0,1 0 0,-1 0 0,1 0 0,-1 0 0,0 0 0,1-1 0,-1 1 0,0 0 0,1 0 0,-1 0 0,1 0 0,-1 0 0,0-1 0,1 1 0,-1 0 0,0 0 0,0-1 0,1 1 0,-1 0 0,0 0 0,1-1 0,-1 1 0,0 0 0,0-1 0,0 1 0,1 0 0,-1-1 0,0 1 0,0-1 0,0 1 0,0 0 0,0-1 0,0 1 0,0 0 0,0-1 0,0 1 0,0-1 0,0 0 0,6-19 0,7-74 0,-8 174 0,-3-41 0,10 61 0,3-59 0,-15-40 0,0-1 0,0 1 0,0-1 0,1 1 0,-1-1 0,0 1 0,0-1 0,0 0 0,1 1 0,-1-1 0,0 1 0,1-1 0,-1 0 0,0 1 0,1-1 0,-1 0 0,0 0 0,1 1 0,-1-1 0,1 0 0,-1 0 0,1 1 0,-1-1 0,0 0 0,2 0 0,-2-1 0,1 0 0,-1 0 0,1 0 0,0 0 0,-1 0 0,0 0 0,1 0 0,-1-1 0,0 1 0,1 0 0,-1 0 0,0 0 0,0-1 0,0 1 0,-1-2 0,1-41 0,-12-80 0,10 114 0,-9-36 0,4 87 0,7 25-1365,0-48-5461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5:21.530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201 1 24575,'1'1'0,"-1"1"0,0-1 0,1 1 0,0-1 0,-1 1 0,1-1 0,0 1 0,0-1 0,0 0 0,0 1 0,0-1 0,0 0 0,0 0 0,0 1 0,0-1 0,1 0 0,0 0 0,30 20 0,-20-14 0,57 34 0,-69-41 0,0 0 0,1 0 0,-1 0 0,0 0 0,0 0 0,1 0 0,-1 0 0,0 0 0,0 0 0,0 1 0,1-1 0,-1 0 0,0 0 0,0 0 0,0 0 0,0 1 0,0-1 0,1 0 0,-1 0 0,0 0 0,0 1 0,0-1 0,0 0 0,0 0 0,0 0 0,0 1 0,0-1 0,0 0 0,0 0 0,0 1 0,0-1 0,0 0 0,0 0 0,0 0 0,0 1 0,0-1 0,0 0 0,-9 4 0,-19-2 0,27-2 0,-296 15 0,366-19 0,251-9 0,-26 13 0,-476 13 0,158-10 0,92-4 0,-23 2 0,58-7 0,106-38 0,-142 28 0,-36 13 0,-26 3 0,-12 0 0,-277 18 0,7 0 0,145-17 0,171-2 0,126 3 0,-143 0 0,0 1 0,0 0 0,0 2 0,-1 1 0,30 12 0,-31-11-151,1-1-1,0 0 0,0-2 0,1 0 1,-1-1-1,1-2 0,0 0 1,31-3-1,-37 2-6674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53D0C-6369-4F30-A663-82A0624E45D3}" type="datetimeFigureOut">
              <a:rPr lang="pt-PT" smtClean="0"/>
              <a:t>21/11/2025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A2D6F-FCA9-46D3-B579-26C5C9C10BF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8878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98598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No entanto, o objetivo principal deste trabalho foi a </a:t>
            </a:r>
            <a:r>
              <a:rPr lang="pt-PT" b="1" dirty="0"/>
              <a:t>aplicação de algoritmos de </a:t>
            </a:r>
            <a:r>
              <a:rPr lang="pt-PT" b="1" i="1" dirty="0"/>
              <a:t>Swarm Intelligence</a:t>
            </a:r>
            <a:r>
              <a:rPr lang="pt-PT" dirty="0"/>
              <a:t> para otimizar os nossos modelos.</a:t>
            </a:r>
          </a:p>
          <a:p>
            <a:endParaRPr lang="pt-PT" dirty="0"/>
          </a:p>
          <a:p>
            <a:r>
              <a:rPr lang="pt-PT" dirty="0"/>
              <a:t>O trabalho teve duas fases: primeiro, testámos os algoritmos na função de </a:t>
            </a:r>
            <a:r>
              <a:rPr lang="pt-PT" i="1" dirty="0"/>
              <a:t>benchmark</a:t>
            </a:r>
            <a:r>
              <a:rPr lang="pt-PT" dirty="0"/>
              <a:t> de Ackley</a:t>
            </a:r>
          </a:p>
          <a:p>
            <a:r>
              <a:rPr lang="pt-PT" dirty="0"/>
              <a:t>Segundo, usámo-los para otimizar os hiperparâmetros da nossa rede neuronal..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6449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0868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O </a:t>
            </a:r>
            <a:r>
              <a:rPr lang="pt-PT" b="1" dirty="0"/>
              <a:t>PSO</a:t>
            </a:r>
            <a:r>
              <a:rPr lang="pt-PT" dirty="0"/>
              <a:t> é o algoritmo clássico, inspirado em bandos de aves.</a:t>
            </a:r>
          </a:p>
          <a:p>
            <a:r>
              <a:rPr lang="pt-PT" dirty="0"/>
              <a:t>Cada partícula (ou solução) move-se pelo espaço de procura e ajusta a sua posição com base na sua melhor experiência pessoal (o </a:t>
            </a:r>
            <a:r>
              <a:rPr lang="pt-P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pbest</a:t>
            </a:r>
            <a:r>
              <a:rPr lang="pt-PT" dirty="0"/>
              <a:t>) e na melhor experiência do grupo (o </a:t>
            </a:r>
            <a:r>
              <a:rPr lang="pt-P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gbest</a:t>
            </a:r>
            <a:r>
              <a:rPr lang="pt-PT" dirty="0"/>
              <a:t>).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9735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O algoritmo que propusemos implementar foi… que é inspirado ….</a:t>
            </a:r>
          </a:p>
          <a:p>
            <a:endParaRPr lang="pt-PT" dirty="0"/>
          </a:p>
          <a:p>
            <a:r>
              <a:rPr lang="pt-PT" dirty="0"/>
              <a:t>Neste algoritmo, as 3 melhores soluções encontradas até ao momento são guardadas e tratadas como os líderes: o </a:t>
            </a:r>
            <a:r>
              <a:rPr lang="pt-PT" b="1" dirty="0"/>
              <a:t>Alpha</a:t>
            </a:r>
            <a:r>
              <a:rPr lang="pt-PT" dirty="0"/>
              <a:t> (a melhor solução), o </a:t>
            </a:r>
            <a:r>
              <a:rPr lang="pt-PT" b="1" dirty="0"/>
              <a:t>Beta</a:t>
            </a:r>
            <a:r>
              <a:rPr lang="pt-PT" dirty="0"/>
              <a:t> (a segunda melhor) e o </a:t>
            </a:r>
            <a:r>
              <a:rPr lang="pt-PT" b="1" dirty="0"/>
              <a:t>Delta</a:t>
            </a:r>
            <a:r>
              <a:rPr lang="pt-PT" dirty="0"/>
              <a:t> (a terceira melhor).</a:t>
            </a:r>
          </a:p>
          <a:p>
            <a:endParaRPr lang="pt-PT" dirty="0"/>
          </a:p>
          <a:p>
            <a:r>
              <a:rPr lang="pt-PT" dirty="0"/>
              <a:t>Todos os outros lobos, os </a:t>
            </a:r>
            <a:r>
              <a:rPr lang="pt-PT" b="1" dirty="0"/>
              <a:t>Omega</a:t>
            </a:r>
            <a:r>
              <a:rPr lang="pt-PT" dirty="0"/>
              <a:t>, seguem estes 3 líderes.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90762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O processo simula uma caça: os lobos primeiro exploram, depois encurralam a presa e, no fim, atacam</a:t>
            </a:r>
          </a:p>
          <a:p>
            <a:endParaRPr lang="pt-PT" dirty="0"/>
          </a:p>
          <a:p>
            <a:r>
              <a:rPr lang="pt-PT" dirty="0"/>
              <a:t>Matematicamente, isto significa que cada lobo 'Omega' atualiza a sua posição movendo-se para um </a:t>
            </a:r>
            <a:r>
              <a:rPr lang="pt-PT" b="1" dirty="0"/>
              <a:t>ponto médio entre o Alpha, o Beta e o Delta</a:t>
            </a:r>
            <a:r>
              <a:rPr lang="pt-PT" dirty="0"/>
              <a:t>.</a:t>
            </a:r>
          </a:p>
          <a:p>
            <a:r>
              <a:rPr lang="pt-PT" dirty="0"/>
              <a:t>Isto faz com que o GWO seja muito bom a evitar 'mínimos locais’( que são soluções que parecem boas mas não são a melhor</a:t>
            </a:r>
            <a:r>
              <a:rPr lang="pt-PT" u="none" dirty="0"/>
              <a:t>).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1168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Antes de aplicarmos isto ao nosso problema principal, validámos os algoritmos na </a:t>
            </a:r>
            <a:r>
              <a:rPr lang="pt-PT" b="1" dirty="0"/>
              <a:t>função de Ackley</a:t>
            </a:r>
            <a:r>
              <a:rPr lang="pt-PT" dirty="0"/>
              <a:t>, como pedia o enunciado.</a:t>
            </a:r>
          </a:p>
          <a:p>
            <a:endParaRPr lang="pt-PT" dirty="0"/>
          </a:p>
          <a:p>
            <a:r>
              <a:rPr lang="pt-PT" dirty="0"/>
              <a:t>Esta função é um </a:t>
            </a:r>
            <a:r>
              <a:rPr lang="pt-PT" i="1" dirty="0"/>
              <a:t>benchmark</a:t>
            </a:r>
            <a:r>
              <a:rPr lang="pt-PT" dirty="0"/>
              <a:t> muito difícil porque tem imensos 'vales', ou mínimos locais, feitos para 'enganar' os algoritmos.</a:t>
            </a:r>
          </a:p>
          <a:p>
            <a:r>
              <a:rPr lang="pt-PT" dirty="0"/>
              <a:t> O objetivo é encontrar o único ponto zero, que é o ótimo global.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7072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Como podem ver nos resultados, o </a:t>
            </a:r>
            <a:r>
              <a:rPr lang="pt-PT" b="1" dirty="0"/>
              <a:t>GWO foi muito superior</a:t>
            </a:r>
            <a:r>
              <a:rPr lang="pt-PT" dirty="0"/>
              <a:t>. Encontrou sempre o ótimo global (fitness zero).</a:t>
            </a:r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 O </a:t>
            </a:r>
            <a:r>
              <a:rPr lang="pt-PT" b="1" dirty="0"/>
              <a:t>PSO</a:t>
            </a:r>
            <a:r>
              <a:rPr lang="pt-PT" dirty="0"/>
              <a:t>, por outro lado, ficou muitas vezes 'preso' nos mínimos locais e não conseguiu encontrar a melhor solução.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33756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- Aprimorámos para 3 blocos e 1 classificador.</a:t>
            </a:r>
          </a:p>
          <a:p>
            <a:r>
              <a:rPr lang="pt-PT" dirty="0"/>
              <a:t>- Cada </a:t>
            </a:r>
            <a:r>
              <a:rPr lang="pt-PT" b="1" dirty="0"/>
              <a:t>bloco</a:t>
            </a:r>
            <a:r>
              <a:rPr lang="pt-PT" dirty="0"/>
              <a:t> leva </a:t>
            </a:r>
            <a:r>
              <a:rPr lang="pt-PT" b="1" dirty="0"/>
              <a:t>2 camadas convulsionais</a:t>
            </a:r>
            <a:r>
              <a:rPr lang="pt-PT" dirty="0"/>
              <a:t>, onde cada camada </a:t>
            </a:r>
            <a:r>
              <a:rPr lang="pt-PT" dirty="0" err="1"/>
              <a:t>convulsional</a:t>
            </a:r>
            <a:r>
              <a:rPr lang="pt-PT" dirty="0"/>
              <a:t> é seguida sempre por um </a:t>
            </a:r>
            <a:r>
              <a:rPr lang="pt-PT" dirty="0" err="1"/>
              <a:t>BatchNormalization</a:t>
            </a:r>
            <a:r>
              <a:rPr lang="pt-PT" dirty="0"/>
              <a:t>() que normaliza os dados que vêm da convulsão e pela função de ativação ‘</a:t>
            </a:r>
            <a:r>
              <a:rPr lang="pt-PT" dirty="0" err="1"/>
              <a:t>ReLU</a:t>
            </a:r>
            <a:r>
              <a:rPr lang="pt-PT" dirty="0"/>
              <a:t>’ que introduz a não linearidade de forma a aprender formas complexas. </a:t>
            </a:r>
          </a:p>
          <a:p>
            <a:r>
              <a:rPr lang="pt-PT" dirty="0"/>
              <a:t>- No fim dos </a:t>
            </a:r>
            <a:r>
              <a:rPr lang="pt-PT" b="1" dirty="0"/>
              <a:t>blocos 1 e 2</a:t>
            </a:r>
            <a:r>
              <a:rPr lang="pt-PT" dirty="0"/>
              <a:t>, é feito um </a:t>
            </a:r>
            <a:r>
              <a:rPr lang="pt-PT" dirty="0" err="1"/>
              <a:t>MaxPoolling</a:t>
            </a:r>
            <a:r>
              <a:rPr lang="pt-PT" dirty="0"/>
              <a:t> que diminui a resolução da imagem para metade onde é guardado apenas detalhes importantes e um </a:t>
            </a:r>
            <a:r>
              <a:rPr lang="pt-PT" dirty="0" err="1"/>
              <a:t>dropout</a:t>
            </a:r>
            <a:r>
              <a:rPr lang="pt-PT" dirty="0"/>
              <a:t> que desativa aleatoriamente neurónios durante o treino de forma a contornar </a:t>
            </a:r>
            <a:r>
              <a:rPr lang="pt-PT" dirty="0" err="1"/>
              <a:t>Overfitting</a:t>
            </a:r>
            <a:r>
              <a:rPr lang="pt-PT" dirty="0"/>
              <a:t>.</a:t>
            </a:r>
          </a:p>
          <a:p>
            <a:r>
              <a:rPr lang="pt-PT" dirty="0"/>
              <a:t>- No </a:t>
            </a:r>
            <a:r>
              <a:rPr lang="pt-PT" b="1" dirty="0"/>
              <a:t>bloco 3</a:t>
            </a:r>
            <a:r>
              <a:rPr lang="pt-PT" dirty="0"/>
              <a:t> temos 2 camadas convulsionais mas desta vez separadas (</a:t>
            </a:r>
            <a:r>
              <a:rPr lang="pt-PT" dirty="0" err="1"/>
              <a:t>MaxPoolling</a:t>
            </a:r>
            <a:r>
              <a:rPr lang="pt-PT" dirty="0"/>
              <a:t> e </a:t>
            </a:r>
            <a:r>
              <a:rPr lang="pt-PT" dirty="0" err="1"/>
              <a:t>Dropout</a:t>
            </a:r>
            <a:r>
              <a:rPr lang="pt-PT" dirty="0"/>
              <a:t> em ambas).</a:t>
            </a:r>
          </a:p>
          <a:p>
            <a:r>
              <a:rPr lang="pt-PT" dirty="0"/>
              <a:t>- E por fim um </a:t>
            </a:r>
            <a:r>
              <a:rPr lang="pt-PT" b="1" dirty="0"/>
              <a:t>classificador</a:t>
            </a:r>
            <a:r>
              <a:rPr lang="pt-PT" dirty="0"/>
              <a:t> que começa por fazer um </a:t>
            </a:r>
            <a:r>
              <a:rPr lang="pt-PT" dirty="0" err="1"/>
              <a:t>AvaragePooling</a:t>
            </a:r>
            <a:r>
              <a:rPr lang="pt-PT" dirty="0"/>
              <a:t> que cria um vetor com 128 valores (onde cada valor é a média dos pesos de cada filtro). Seguida duma camada densa para conectar as características encontradas vindas das </a:t>
            </a:r>
            <a:r>
              <a:rPr lang="pt-PT" dirty="0" err="1"/>
              <a:t>convulcionais</a:t>
            </a:r>
            <a:r>
              <a:rPr lang="pt-PT" dirty="0"/>
              <a:t> às classes. Novamente um </a:t>
            </a:r>
            <a:r>
              <a:rPr lang="pt-PT" dirty="0" err="1"/>
              <a:t>dropout</a:t>
            </a:r>
            <a:r>
              <a:rPr lang="pt-PT" dirty="0"/>
              <a:t>. E por fim uma Camada densa com 5 neurónios (</a:t>
            </a:r>
            <a:r>
              <a:rPr lang="pt-PT" dirty="0" err="1"/>
              <a:t>pq</a:t>
            </a:r>
            <a:r>
              <a:rPr lang="pt-PT" dirty="0"/>
              <a:t> são 5 classes) para criar probabilidades para cada classe (valores entre 0 e 1).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1086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Agentes </a:t>
            </a:r>
            <a:r>
              <a:rPr lang="pt-PT" dirty="0"/>
              <a:t>– quantidade de soluções que se testa </a:t>
            </a:r>
            <a:r>
              <a:rPr lang="pt-PT" b="1" dirty="0"/>
              <a:t>em simultâneo</a:t>
            </a:r>
            <a:r>
              <a:rPr lang="pt-PT" dirty="0"/>
              <a:t> em cada ronda</a:t>
            </a:r>
          </a:p>
          <a:p>
            <a:r>
              <a:rPr lang="pt-PT" b="1" dirty="0" err="1"/>
              <a:t>Iteracoes</a:t>
            </a:r>
            <a:r>
              <a:rPr lang="pt-PT" dirty="0"/>
              <a:t> – quantidade de vezes que toda a gente se mexe</a:t>
            </a:r>
          </a:p>
          <a:p>
            <a:endParaRPr lang="pt-PT" dirty="0"/>
          </a:p>
          <a:p>
            <a:r>
              <a:rPr lang="pt-PT" b="1" dirty="0" err="1"/>
              <a:t>Patience</a:t>
            </a:r>
            <a:r>
              <a:rPr lang="pt-PT" dirty="0"/>
              <a:t> – numero de épocas que se o modelo não melhorar a </a:t>
            </a:r>
            <a:r>
              <a:rPr lang="pt-PT" dirty="0" err="1"/>
              <a:t>loss</a:t>
            </a:r>
            <a:r>
              <a:rPr lang="pt-PT" dirty="0"/>
              <a:t>/</a:t>
            </a:r>
            <a:r>
              <a:rPr lang="pt-PT" dirty="0" err="1"/>
              <a:t>acc</a:t>
            </a:r>
            <a:r>
              <a:rPr lang="pt-PT" dirty="0"/>
              <a:t> (dependendo), o treino para!</a:t>
            </a:r>
          </a:p>
          <a:p>
            <a:endParaRPr lang="pt-PT" dirty="0"/>
          </a:p>
          <a:p>
            <a:r>
              <a:rPr lang="pt-PT" b="1" dirty="0"/>
              <a:t>w</a:t>
            </a:r>
            <a:r>
              <a:rPr lang="pt-PT" dirty="0"/>
              <a:t> – inércia -&gt; define o quão a </a:t>
            </a:r>
            <a:r>
              <a:rPr lang="pt-PT" dirty="0" err="1"/>
              <a:t>particula</a:t>
            </a:r>
            <a:r>
              <a:rPr lang="pt-PT" dirty="0"/>
              <a:t> se move da sua velocidade anterior</a:t>
            </a:r>
          </a:p>
          <a:p>
            <a:r>
              <a:rPr lang="pt-PT" b="1" dirty="0"/>
              <a:t>c1</a:t>
            </a:r>
            <a:r>
              <a:rPr lang="pt-PT" dirty="0"/>
              <a:t> – Coeficiente cognitivo -&gt; define o quão a partícula é atraída/influenciada pelo seu </a:t>
            </a:r>
            <a:r>
              <a:rPr lang="pt-PT" b="1" dirty="0" err="1"/>
              <a:t>personal</a:t>
            </a:r>
            <a:r>
              <a:rPr lang="pt-PT" b="1" dirty="0"/>
              <a:t> </a:t>
            </a:r>
            <a:r>
              <a:rPr lang="pt-PT" b="1" dirty="0" err="1"/>
              <a:t>best</a:t>
            </a:r>
            <a:r>
              <a:rPr lang="pt-PT" b="1" dirty="0"/>
              <a:t> (</a:t>
            </a:r>
            <a:r>
              <a:rPr lang="pt-PT" b="1" dirty="0" err="1"/>
              <a:t>pbest</a:t>
            </a:r>
            <a:r>
              <a:rPr lang="pt-PT" b="1" dirty="0"/>
              <a:t>)</a:t>
            </a:r>
          </a:p>
          <a:p>
            <a:r>
              <a:rPr lang="pt-PT" b="1" dirty="0"/>
              <a:t>c2</a:t>
            </a:r>
            <a:r>
              <a:rPr lang="pt-PT" dirty="0"/>
              <a:t> –  Coeficiente social -&gt; define o quão a partícula é atraída/influenciada pelo </a:t>
            </a:r>
            <a:r>
              <a:rPr lang="pt-PT" b="1" dirty="0"/>
              <a:t>global </a:t>
            </a:r>
            <a:r>
              <a:rPr lang="pt-PT" b="1" dirty="0" err="1"/>
              <a:t>best</a:t>
            </a:r>
            <a:r>
              <a:rPr lang="pt-PT" b="1" dirty="0"/>
              <a:t> (</a:t>
            </a:r>
            <a:r>
              <a:rPr lang="pt-PT" b="1" dirty="0" err="1"/>
              <a:t>gbest</a:t>
            </a:r>
            <a:r>
              <a:rPr lang="pt-PT" b="1" dirty="0"/>
              <a:t>)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0690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Conclusão</a:t>
            </a:r>
            <a:r>
              <a:rPr lang="pt-PT" dirty="0"/>
              <a:t>:</a:t>
            </a:r>
          </a:p>
          <a:p>
            <a:r>
              <a:rPr lang="pt-PT" dirty="0"/>
              <a:t>- Melhor conjunto de </a:t>
            </a:r>
            <a:r>
              <a:rPr lang="pt-PT" dirty="0" err="1"/>
              <a:t>hiperparâmetros</a:t>
            </a:r>
            <a:r>
              <a:rPr lang="pt-PT" dirty="0"/>
              <a:t> consistente.</a:t>
            </a:r>
          </a:p>
          <a:p>
            <a:r>
              <a:rPr lang="pt-PT" dirty="0"/>
              <a:t>- </a:t>
            </a:r>
            <a:r>
              <a:rPr lang="pt-PT" dirty="0" err="1"/>
              <a:t>Accuracy</a:t>
            </a:r>
            <a:r>
              <a:rPr lang="pt-PT" dirty="0"/>
              <a:t> validação ≈ 0.835.</a:t>
            </a:r>
          </a:p>
          <a:p>
            <a:r>
              <a:rPr lang="pt-PT" dirty="0"/>
              <a:t>- Otimização em ~20.5 horas.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31150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Conclusão</a:t>
            </a:r>
            <a:r>
              <a:rPr lang="pt-PT" dirty="0"/>
              <a:t>:</a:t>
            </a:r>
          </a:p>
          <a:p>
            <a:r>
              <a:rPr lang="pt-PT" dirty="0"/>
              <a:t>- Bom conjunto de </a:t>
            </a:r>
            <a:r>
              <a:rPr lang="pt-PT" dirty="0" err="1"/>
              <a:t>hiperparâmetros</a:t>
            </a:r>
            <a:r>
              <a:rPr lang="pt-PT" dirty="0"/>
              <a:t>, mas menos estável.</a:t>
            </a:r>
          </a:p>
          <a:p>
            <a:r>
              <a:rPr lang="pt-PT" dirty="0"/>
              <a:t>- </a:t>
            </a:r>
            <a:r>
              <a:rPr lang="pt-PT" dirty="0" err="1"/>
              <a:t>Accuracy</a:t>
            </a:r>
            <a:r>
              <a:rPr lang="pt-PT" dirty="0"/>
              <a:t> validação ≈ 0.829.</a:t>
            </a:r>
          </a:p>
          <a:p>
            <a:r>
              <a:rPr lang="pt-PT" dirty="0"/>
              <a:t>- Otimização demorou mais (~47 horas).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64227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 err="1"/>
              <a:t>Re-treino</a:t>
            </a:r>
            <a:r>
              <a:rPr lang="pt-PT" dirty="0"/>
              <a:t> de 100 épocas + </a:t>
            </a:r>
            <a:r>
              <a:rPr lang="pt-PT" dirty="0" err="1"/>
              <a:t>early</a:t>
            </a:r>
            <a:r>
              <a:rPr lang="pt-PT" dirty="0"/>
              <a:t> </a:t>
            </a:r>
            <a:r>
              <a:rPr lang="pt-PT" dirty="0" err="1"/>
              <a:t>stopping</a:t>
            </a:r>
            <a:r>
              <a:rPr lang="pt-PT" dirty="0"/>
              <a:t> (</a:t>
            </a:r>
            <a:r>
              <a:rPr lang="pt-PT" dirty="0" err="1"/>
              <a:t>patience</a:t>
            </a:r>
            <a:r>
              <a:rPr lang="pt-PT" dirty="0"/>
              <a:t>=10).</a:t>
            </a:r>
          </a:p>
          <a:p>
            <a:endParaRPr lang="pt-PT" dirty="0"/>
          </a:p>
          <a:p>
            <a:r>
              <a:rPr lang="pt-PT" b="1" dirty="0"/>
              <a:t>Conclusão</a:t>
            </a:r>
            <a:r>
              <a:rPr lang="pt-PT" dirty="0"/>
              <a:t>:</a:t>
            </a:r>
          </a:p>
          <a:p>
            <a:r>
              <a:rPr lang="pt-PT" dirty="0"/>
              <a:t>- Convergência suave comparando com o PSO que vamos mostrar no </a:t>
            </a:r>
            <a:r>
              <a:rPr lang="pt-PT" dirty="0" err="1"/>
              <a:t>prox</a:t>
            </a:r>
            <a:r>
              <a:rPr lang="pt-PT" dirty="0"/>
              <a:t> slide.</a:t>
            </a:r>
          </a:p>
          <a:p>
            <a:pPr marL="0" indent="0">
              <a:buFontTx/>
              <a:buNone/>
            </a:pPr>
            <a:r>
              <a:rPr lang="pt-PT" dirty="0"/>
              <a:t>- Validação é estável e elevada.</a:t>
            </a:r>
          </a:p>
          <a:p>
            <a:pPr marL="0" indent="0">
              <a:buFontTx/>
              <a:buNone/>
            </a:pPr>
            <a:r>
              <a:rPr lang="pt-PT" dirty="0"/>
              <a:t>- Conclui-se também que não está a ocorrer </a:t>
            </a:r>
            <a:r>
              <a:rPr lang="pt-PT" dirty="0" err="1"/>
              <a:t>overfitting</a:t>
            </a:r>
            <a:r>
              <a:rPr lang="pt-PT" dirty="0"/>
              <a:t> durante o treino, coisa que na 1ª fase acontecia bastante.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8475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 err="1"/>
              <a:t>Re-treino</a:t>
            </a:r>
            <a:r>
              <a:rPr lang="pt-PT" dirty="0"/>
              <a:t> de 100 épocas + </a:t>
            </a:r>
            <a:r>
              <a:rPr lang="pt-PT" dirty="0" err="1"/>
              <a:t>early</a:t>
            </a:r>
            <a:r>
              <a:rPr lang="pt-PT" dirty="0"/>
              <a:t> </a:t>
            </a:r>
            <a:r>
              <a:rPr lang="pt-PT" dirty="0" err="1"/>
              <a:t>stopping</a:t>
            </a:r>
            <a:r>
              <a:rPr lang="pt-PT" dirty="0"/>
              <a:t> (</a:t>
            </a:r>
            <a:r>
              <a:rPr lang="pt-PT" dirty="0" err="1"/>
              <a:t>patience</a:t>
            </a:r>
            <a:r>
              <a:rPr lang="pt-PT" dirty="0"/>
              <a:t>=10).</a:t>
            </a:r>
          </a:p>
          <a:p>
            <a:endParaRPr lang="pt-PT" dirty="0"/>
          </a:p>
          <a:p>
            <a:r>
              <a:rPr lang="pt-PT" b="1" dirty="0"/>
              <a:t>Conclusão</a:t>
            </a:r>
            <a:r>
              <a:rPr lang="pt-PT" dirty="0"/>
              <a:t>:</a:t>
            </a:r>
          </a:p>
          <a:p>
            <a:r>
              <a:rPr lang="pt-PT" dirty="0"/>
              <a:t>- Maior variabilidade na validação.</a:t>
            </a:r>
          </a:p>
          <a:p>
            <a:r>
              <a:rPr lang="pt-PT" dirty="0"/>
              <a:t>- Convergência menos estável comparando com o GWO.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11270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Accuracy</a:t>
            </a:r>
            <a:r>
              <a:rPr lang="pt-PT" dirty="0"/>
              <a:t> teste ≈ 0.801</a:t>
            </a:r>
          </a:p>
          <a:p>
            <a:r>
              <a:rPr lang="pt-PT" dirty="0"/>
              <a:t>Métricas consistentes entre classes.</a:t>
            </a:r>
          </a:p>
          <a:p>
            <a:r>
              <a:rPr lang="pt-PT" dirty="0"/>
              <a:t>Excelente generalização.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11677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Accuracy</a:t>
            </a:r>
            <a:r>
              <a:rPr lang="pt-PT" dirty="0"/>
              <a:t> teste ≈ 0.794</a:t>
            </a:r>
          </a:p>
          <a:p>
            <a:r>
              <a:rPr lang="pt-PT" dirty="0"/>
              <a:t>Resultados bons, mas inferiores ao GWO.</a:t>
            </a:r>
          </a:p>
          <a:p>
            <a:r>
              <a:rPr lang="pt-PT" dirty="0"/>
              <a:t>Mais erros sistemáticos.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32419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20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5205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Nós acreditamos que a razão por não termos atingido +90% </a:t>
            </a:r>
            <a:r>
              <a:rPr lang="pt-PT" dirty="0" err="1"/>
              <a:t>acc</a:t>
            </a:r>
            <a:r>
              <a:rPr lang="pt-PT" dirty="0"/>
              <a:t>, deve-se à complexidade do </a:t>
            </a:r>
            <a:r>
              <a:rPr lang="pt-PT" dirty="0" err="1"/>
              <a:t>dataset</a:t>
            </a:r>
            <a:r>
              <a:rPr lang="pt-PT" dirty="0"/>
              <a:t>, isto é, 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21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8041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.jpe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B8FF7-141C-620F-0B50-58211D04E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80" y="504222"/>
            <a:ext cx="8637073" cy="2541431"/>
          </a:xfrm>
        </p:spPr>
        <p:txBody>
          <a:bodyPr>
            <a:normAutofit fontScale="90000"/>
          </a:bodyPr>
          <a:lstStyle/>
          <a:p>
            <a:r>
              <a:rPr lang="pt-PT" dirty="0"/>
              <a:t>Classificação de carrocerias de automóveis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2045F1-CCC1-793D-C86B-A34B4693D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pt-PT" dirty="0"/>
              <a:t>Meta 2 – Inteligência computacional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1D0CB3-C80A-0713-B9D4-351B5AF84D80}"/>
              </a:ext>
            </a:extLst>
          </p:cNvPr>
          <p:cNvSpPr txBox="1"/>
          <p:nvPr/>
        </p:nvSpPr>
        <p:spPr>
          <a:xfrm>
            <a:off x="9103958" y="5306007"/>
            <a:ext cx="2840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Pedro Saraiva – 2023146226</a:t>
            </a:r>
          </a:p>
          <a:p>
            <a:r>
              <a:rPr lang="pt-PT" dirty="0"/>
              <a:t>Daniel Soares – 2023144661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8EFE34F5-2127-2785-207A-0B4329FC3DF4}"/>
                  </a:ext>
                </a:extLst>
              </p14:cNvPr>
              <p14:cNvContentPartPr/>
              <p14:nvPr/>
            </p14:nvContentPartPr>
            <p14:xfrm>
              <a:off x="7394931" y="3443091"/>
              <a:ext cx="77040" cy="15948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8EFE34F5-2127-2785-207A-0B4329FC3D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8811" y="3436971"/>
                <a:ext cx="892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3D892BB8-4B98-1E0E-ED31-1A933708B6EC}"/>
                  </a:ext>
                </a:extLst>
              </p14:cNvPr>
              <p14:cNvContentPartPr/>
              <p14:nvPr/>
            </p14:nvContentPartPr>
            <p14:xfrm>
              <a:off x="7489251" y="3470811"/>
              <a:ext cx="360" cy="3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3D892BB8-4B98-1E0E-ED31-1A933708B6E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71251" y="345281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A9587F3E-0D5D-19FC-2C8A-07AB941DBB0E}"/>
                  </a:ext>
                </a:extLst>
              </p14:cNvPr>
              <p14:cNvContentPartPr/>
              <p14:nvPr/>
            </p14:nvContentPartPr>
            <p14:xfrm>
              <a:off x="7319691" y="3384771"/>
              <a:ext cx="249840" cy="29700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A9587F3E-0D5D-19FC-2C8A-07AB941DBB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02051" y="3366771"/>
                <a:ext cx="2854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629C08D0-C9E6-3F9F-5340-B1260176E39C}"/>
                  </a:ext>
                </a:extLst>
              </p14:cNvPr>
              <p14:cNvContentPartPr/>
              <p14:nvPr/>
            </p14:nvContentPartPr>
            <p14:xfrm>
              <a:off x="7528851" y="3489531"/>
              <a:ext cx="362160" cy="5724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629C08D0-C9E6-3F9F-5340-B1260176E39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10851" y="3471891"/>
                <a:ext cx="397800" cy="9288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BD8C7F6E-BFB4-4267-77D9-348A5B1AD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366" y="2339399"/>
            <a:ext cx="4392410" cy="22100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4029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F9356-6765-4810-EFCC-44C4781B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Enquadramento do Trabalho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C963908-8AD1-998E-09E9-49DA09554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Aplicação de algoritmos de Inteligência </a:t>
            </a:r>
            <a:r>
              <a:rPr lang="pt-PT" dirty="0" err="1"/>
              <a:t>Swarm</a:t>
            </a:r>
            <a:r>
              <a:rPr lang="pt-PT" dirty="0"/>
              <a:t> à otimização de modelos.</a:t>
            </a:r>
          </a:p>
          <a:p>
            <a:r>
              <a:rPr lang="pt-PT" dirty="0"/>
              <a:t>Estudo comparativo entre </a:t>
            </a:r>
            <a:r>
              <a:rPr lang="pt-PT" altLang="pt-PT" b="1" dirty="0" err="1"/>
              <a:t>Grey</a:t>
            </a:r>
            <a:r>
              <a:rPr lang="pt-PT" altLang="pt-PT" b="1" dirty="0"/>
              <a:t> </a:t>
            </a:r>
            <a:r>
              <a:rPr lang="pt-PT" altLang="pt-PT" b="1" dirty="0" err="1"/>
              <a:t>Wolf</a:t>
            </a:r>
            <a:r>
              <a:rPr lang="pt-PT" altLang="pt-PT" b="1" dirty="0"/>
              <a:t> </a:t>
            </a:r>
            <a:r>
              <a:rPr lang="pt-PT" altLang="pt-PT" b="1" dirty="0" err="1"/>
              <a:t>Optimization</a:t>
            </a:r>
            <a:r>
              <a:rPr lang="pt-PT" altLang="pt-PT" b="1" dirty="0"/>
              <a:t> (</a:t>
            </a:r>
            <a:r>
              <a:rPr lang="pt-PT" b="1" dirty="0"/>
              <a:t>GWO)</a:t>
            </a:r>
            <a:r>
              <a:rPr lang="pt-PT" dirty="0"/>
              <a:t> e </a:t>
            </a:r>
            <a:r>
              <a:rPr lang="pt-PT" altLang="pt-PT" b="1" dirty="0" err="1"/>
              <a:t>Particle</a:t>
            </a:r>
            <a:r>
              <a:rPr lang="pt-PT" altLang="pt-PT" b="1" dirty="0"/>
              <a:t> </a:t>
            </a:r>
            <a:r>
              <a:rPr lang="pt-PT" altLang="pt-PT" b="1" dirty="0" err="1"/>
              <a:t>Swarm</a:t>
            </a:r>
            <a:r>
              <a:rPr lang="pt-PT" altLang="pt-PT" b="1" dirty="0"/>
              <a:t> </a:t>
            </a:r>
            <a:r>
              <a:rPr lang="pt-PT" altLang="pt-PT" b="1" dirty="0" err="1"/>
              <a:t>Optimization</a:t>
            </a:r>
            <a:r>
              <a:rPr lang="pt-PT" altLang="pt-PT" b="1" dirty="0"/>
              <a:t> (</a:t>
            </a:r>
            <a:r>
              <a:rPr lang="pt-PT" b="1" dirty="0"/>
              <a:t>PSO)</a:t>
            </a:r>
            <a:r>
              <a:rPr lang="pt-PT" dirty="0"/>
              <a:t>.</a:t>
            </a:r>
          </a:p>
          <a:p>
            <a:r>
              <a:rPr lang="pt-PT" dirty="0"/>
              <a:t>Dois objetivos principais:</a:t>
            </a:r>
          </a:p>
          <a:p>
            <a:pPr lvl="1"/>
            <a:r>
              <a:rPr lang="pt-PT" dirty="0"/>
              <a:t>Avaliar comportamento na função benchmark Ackley</a:t>
            </a:r>
          </a:p>
          <a:p>
            <a:pPr lvl="1"/>
            <a:r>
              <a:rPr lang="pt-PT" dirty="0"/>
              <a:t>Otimizar </a:t>
            </a:r>
            <a:r>
              <a:rPr lang="pt-PT" dirty="0" err="1"/>
              <a:t>hiperparâmetros</a:t>
            </a:r>
            <a:r>
              <a:rPr lang="pt-PT" dirty="0"/>
              <a:t> de uma CNN real para classificação de imagens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1135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CCD65-C4D5-111D-8E74-2AC55748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 que é Inteligência </a:t>
            </a:r>
            <a:r>
              <a:rPr lang="pt-PT" dirty="0" err="1"/>
              <a:t>Swarm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3D36259-E0DE-8849-A1B8-125EE4558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Paradigma inspirado em grupos naturais (lobos, aves, peixes, formigas, etc.).</a:t>
            </a:r>
          </a:p>
          <a:p>
            <a:r>
              <a:rPr lang="pt-PT" dirty="0"/>
              <a:t>Cada agente = uma solução.</a:t>
            </a:r>
          </a:p>
          <a:p>
            <a:r>
              <a:rPr lang="pt-PT" dirty="0"/>
              <a:t>Agentes cooperam uns com os outros e, juntos, conseguem resolver problemas de forma inteligente.</a:t>
            </a:r>
          </a:p>
          <a:p>
            <a:r>
              <a:rPr lang="pt-PT" dirty="0"/>
              <a:t>Vantagens: método robusto, fácil de usar em paralelo, e adapta-se bem a diferentes problemas.</a:t>
            </a:r>
          </a:p>
        </p:txBody>
      </p:sp>
    </p:spTree>
    <p:extLst>
      <p:ext uri="{BB962C8B-B14F-4D97-AF65-F5344CB8AC3E}">
        <p14:creationId xmlns:p14="http://schemas.microsoft.com/office/powerpoint/2010/main" val="238308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0285B-EA1E-0308-B70A-71F6F2628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PSO (</a:t>
            </a:r>
            <a:r>
              <a:rPr lang="pt-PT" dirty="0" err="1"/>
              <a:t>Particle</a:t>
            </a:r>
            <a:r>
              <a:rPr lang="pt-PT" dirty="0"/>
              <a:t> </a:t>
            </a:r>
            <a:r>
              <a:rPr lang="pt-PT" dirty="0" err="1"/>
              <a:t>Swarm</a:t>
            </a:r>
            <a:r>
              <a:rPr lang="pt-PT" dirty="0"/>
              <a:t> </a:t>
            </a:r>
            <a:r>
              <a:rPr lang="pt-PT" dirty="0" err="1"/>
              <a:t>Optimization</a:t>
            </a:r>
            <a:r>
              <a:rPr lang="pt-PT" dirty="0"/>
              <a:t>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D69F4B2-F2F6-C899-F712-E10D84452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Inspirado em bandos de aves.</a:t>
            </a:r>
          </a:p>
          <a:p>
            <a:r>
              <a:rPr lang="pt-PT" dirty="0"/>
              <a:t>Cada partícula </a:t>
            </a:r>
            <a:r>
              <a:rPr lang="pt-PT" altLang="pt-PT" dirty="0"/>
              <a:t>ajusta a sua velocidade e posição com base em</a:t>
            </a:r>
            <a:r>
              <a:rPr lang="pt-PT" dirty="0"/>
              <a:t>:</a:t>
            </a:r>
          </a:p>
          <a:p>
            <a:pPr lvl="1"/>
            <a:r>
              <a:rPr lang="pt-PT" b="1" dirty="0" err="1"/>
              <a:t>pbest</a:t>
            </a:r>
            <a:r>
              <a:rPr lang="pt-PT" dirty="0"/>
              <a:t> — melhor posição individual</a:t>
            </a:r>
          </a:p>
          <a:p>
            <a:pPr lvl="1"/>
            <a:r>
              <a:rPr lang="pt-PT" b="1" dirty="0" err="1"/>
              <a:t>gbest</a:t>
            </a:r>
            <a:r>
              <a:rPr lang="pt-PT" dirty="0"/>
              <a:t> — melhor posição global</a:t>
            </a:r>
          </a:p>
          <a:p>
            <a:r>
              <a:rPr lang="pt-PT" dirty="0"/>
              <a:t>Parâmetros importantes: w, (inércia) c1 (coeficiente cognitivo), c2 (coeficiente social)</a:t>
            </a:r>
          </a:p>
          <a:p>
            <a:r>
              <a:rPr lang="pt-PT" dirty="0"/>
              <a:t>Sensível à escolha de parâmetros.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4765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51412-13C3-56B6-B9A8-C71D7408B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GWO (</a:t>
            </a:r>
            <a:r>
              <a:rPr lang="pt-PT" dirty="0" err="1"/>
              <a:t>Grey</a:t>
            </a:r>
            <a:r>
              <a:rPr lang="pt-PT" dirty="0"/>
              <a:t> </a:t>
            </a:r>
            <a:r>
              <a:rPr lang="pt-PT" dirty="0" err="1"/>
              <a:t>Wolf</a:t>
            </a:r>
            <a:r>
              <a:rPr lang="pt-PT" dirty="0"/>
              <a:t> </a:t>
            </a:r>
            <a:r>
              <a:rPr lang="pt-PT" dirty="0" err="1"/>
              <a:t>Optimizer</a:t>
            </a:r>
            <a:r>
              <a:rPr lang="pt-PT" dirty="0"/>
              <a:t>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BF752CF-6BAC-5B8F-D648-DD4B9F1A8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Inspirado na hierarquia e caça dos lobos-cinzentos.</a:t>
            </a:r>
          </a:p>
          <a:p>
            <a:r>
              <a:rPr lang="pt-PT" dirty="0"/>
              <a:t>Hierarquia: </a:t>
            </a:r>
          </a:p>
          <a:p>
            <a:pPr lvl="1"/>
            <a:r>
              <a:rPr lang="pt-PT" altLang="pt-PT" b="1" dirty="0">
                <a:latin typeface="Arial" panose="020B0604020202020204" pitchFamily="34" charset="0"/>
              </a:rPr>
              <a:t>α</a:t>
            </a:r>
            <a:r>
              <a:rPr lang="pt-PT" dirty="0"/>
              <a:t> (Alpha) ⮕ O líder (a melhor solução encontrada)</a:t>
            </a:r>
          </a:p>
          <a:p>
            <a:pPr lvl="1"/>
            <a:r>
              <a:rPr lang="pt-PT" altLang="pt-PT" b="1" dirty="0">
                <a:latin typeface="Arial" panose="020B0604020202020204" pitchFamily="34" charset="0"/>
              </a:rPr>
              <a:t>β</a:t>
            </a:r>
            <a:r>
              <a:rPr lang="pt-PT" dirty="0"/>
              <a:t> (Beta) ⮕ O 2º líder (a segunda melhor solução encontrada)</a:t>
            </a:r>
          </a:p>
          <a:p>
            <a:pPr lvl="1"/>
            <a:r>
              <a:rPr lang="pt-PT" b="1" dirty="0"/>
              <a:t>δ</a:t>
            </a:r>
            <a:r>
              <a:rPr lang="pt-PT" dirty="0"/>
              <a:t> (Delta) ⮕ O 3º líder (a terceira melhor solução encontrada)</a:t>
            </a:r>
          </a:p>
          <a:p>
            <a:pPr lvl="1"/>
            <a:r>
              <a:rPr lang="pt-PT" b="1" dirty="0"/>
              <a:t>ω</a:t>
            </a:r>
            <a:r>
              <a:rPr lang="pt-PT" dirty="0"/>
              <a:t> (</a:t>
            </a:r>
            <a:r>
              <a:rPr lang="pt-PT" altLang="pt-PT" dirty="0"/>
              <a:t>Omega) </a:t>
            </a:r>
            <a:r>
              <a:rPr lang="pt-PT" dirty="0"/>
              <a:t>⮕ Restantes lobos, que seguem as ordens dos 3 líderes </a:t>
            </a:r>
          </a:p>
          <a:p>
            <a:r>
              <a:rPr lang="pt-PT" dirty="0"/>
              <a:t>Baixa sensibilidade paramétrica.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76070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34C73-A8D3-F79F-5F24-67C97C1E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GWO - Como Funciona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6046B1C-CD33-05AA-2370-B37E575E6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PT" altLang="pt-PT" dirty="0"/>
              <a:t>O algoritmo simula uma caça em 3 passos: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pt-PT" altLang="pt-PT" dirty="0"/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pt-PT" altLang="pt-PT" dirty="0"/>
              <a:t>Procurar a Presa: Os lobos espalham-se para explorar (início da otimização).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pt-PT" altLang="pt-PT" dirty="0"/>
              <a:t>Encurralar a Presa: Os lobos aproximam-se da melhor área (meio da otimização).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pt-PT" altLang="pt-PT" dirty="0"/>
              <a:t>Atacar a Presa: Os lobos convergem para o ponto ótimo.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PT" altLang="pt-PT" sz="2000" dirty="0"/>
              <a:t>A Posição da Presa: É estimada com base nas posições dos 3 líderes (Alpha, Beta e Delta).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PT" altLang="pt-PT" sz="2000" dirty="0"/>
              <a:t>Atualização: Cada lobo Omega atualiza a sua posição movendo-se para um ponto médio entre as posições do Alpha, Beta e Delta.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77181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55F83-9D11-9AD4-7A92-B3FCDC5D9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Otimização da função Benchmark:  Ackley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66FA105-3738-C11C-E63A-D50B209A9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159083" cy="3450613"/>
          </a:xfrm>
        </p:spPr>
        <p:txBody>
          <a:bodyPr/>
          <a:lstStyle/>
          <a:p>
            <a:r>
              <a:rPr lang="pt-PT" dirty="0"/>
              <a:t>Função multimodal com muitos mínimos locais.</a:t>
            </a:r>
          </a:p>
          <a:p>
            <a:r>
              <a:rPr lang="pt-PT" dirty="0"/>
              <a:t>Usada para testar estabilidade de algoritmos de otimização.</a:t>
            </a:r>
          </a:p>
          <a:p>
            <a:r>
              <a:rPr lang="pt-PT" dirty="0"/>
              <a:t>Avaliada em d = 2 e d = 3.</a:t>
            </a:r>
          </a:p>
          <a:p>
            <a:endParaRPr lang="pt-PT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5F21466-5410-B9F7-E9EB-8CBB72A77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803" y="2015732"/>
            <a:ext cx="4228051" cy="33052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40197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F6D12-2F20-B141-C28D-50C9B0E6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Resultados no Ackley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216BE6-CA7B-7035-C5E6-684B7F408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357110" cy="3950353"/>
          </a:xfrm>
        </p:spPr>
        <p:txBody>
          <a:bodyPr>
            <a:normAutofit lnSpcReduction="10000"/>
          </a:bodyPr>
          <a:lstStyle/>
          <a:p>
            <a:r>
              <a:rPr lang="pt-PT" b="1" dirty="0"/>
              <a:t>GWO:</a:t>
            </a:r>
            <a:endParaRPr lang="pt-PT" dirty="0"/>
          </a:p>
          <a:p>
            <a:pPr lvl="1"/>
            <a:r>
              <a:rPr lang="pt-PT" dirty="0"/>
              <a:t>Chegou sempre ao ótimo global (fitness = 0).</a:t>
            </a:r>
          </a:p>
          <a:p>
            <a:pPr lvl="1"/>
            <a:r>
              <a:rPr lang="pt-PT" dirty="0"/>
              <a:t>Desempenho estável e independente dos parâmetros.</a:t>
            </a:r>
          </a:p>
          <a:p>
            <a:r>
              <a:rPr lang="pt-PT" b="1" dirty="0"/>
              <a:t>PSO:</a:t>
            </a:r>
            <a:endParaRPr lang="pt-PT" dirty="0"/>
          </a:p>
          <a:p>
            <a:pPr lvl="1"/>
            <a:r>
              <a:rPr lang="pt-PT" dirty="0"/>
              <a:t>Bom desempenho em alguns parâmetros.</a:t>
            </a:r>
          </a:p>
          <a:p>
            <a:pPr lvl="1"/>
            <a:r>
              <a:rPr lang="pt-PT" dirty="0"/>
              <a:t>Desempenho degradado com w mais elevado.</a:t>
            </a:r>
          </a:p>
          <a:p>
            <a:pPr lvl="1"/>
            <a:r>
              <a:rPr lang="pt-PT" dirty="0"/>
              <a:t>Sensível à escolha de c1, c2.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E02014-CC8E-7DA1-41B1-BB5B3304F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692" y="2066751"/>
            <a:ext cx="5089161" cy="38993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879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A48B3-B2CE-9D0E-B723-6023F4F9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da CNN Inicial (Fase I)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3AA15A1-83B3-86AC-07AF-94C95A245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CNN simples com 3 camadas </a:t>
            </a:r>
            <a:r>
              <a:rPr lang="pt-PT" dirty="0" err="1"/>
              <a:t>convolucionais</a:t>
            </a:r>
            <a:r>
              <a:rPr lang="pt-PT" dirty="0"/>
              <a:t>.</a:t>
            </a:r>
          </a:p>
          <a:p>
            <a:r>
              <a:rPr lang="pt-PT" dirty="0"/>
              <a:t>Extração limitada de padrões.</a:t>
            </a:r>
          </a:p>
          <a:p>
            <a:r>
              <a:rPr lang="pt-PT" b="1" dirty="0" err="1"/>
              <a:t>Accuracy</a:t>
            </a:r>
            <a:r>
              <a:rPr lang="pt-PT" b="1" dirty="0"/>
              <a:t> no teste ≈ 66%</a:t>
            </a:r>
            <a:r>
              <a:rPr lang="pt-PT" dirty="0"/>
              <a:t>.</a:t>
            </a:r>
          </a:p>
          <a:p>
            <a:r>
              <a:rPr lang="pt-PT" dirty="0"/>
              <a:t>Necessidade clara de otimização.</a:t>
            </a:r>
          </a:p>
          <a:p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51D1BBB-3274-6D98-B8FC-0ED17251B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568" y="2792483"/>
            <a:ext cx="5238286" cy="18971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49835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242EC-D92B-004A-E47A-2DDE7D096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da CNN </a:t>
            </a:r>
            <a:r>
              <a:rPr lang="pt-PT" dirty="0" err="1"/>
              <a:t>aTUALIZADA</a:t>
            </a:r>
            <a:r>
              <a:rPr lang="pt-PT" dirty="0"/>
              <a:t> (Fase II)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27677B1-ED9D-101B-64AE-B4598F208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203" y="2015732"/>
            <a:ext cx="2585804" cy="3450613"/>
          </a:xfrm>
        </p:spPr>
        <p:txBody>
          <a:bodyPr/>
          <a:lstStyle/>
          <a:p>
            <a:r>
              <a:rPr lang="pt-PT" dirty="0"/>
              <a:t>Arquitetura aprofundada</a:t>
            </a:r>
          </a:p>
          <a:p>
            <a:r>
              <a:rPr lang="pt-PT" dirty="0"/>
              <a:t>Mais robusta e expressiva.</a:t>
            </a:r>
          </a:p>
          <a:p>
            <a:endParaRPr lang="pt-PT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D7F3888-F68A-B0F5-9D02-EFF7593B8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746" y="2136102"/>
            <a:ext cx="3375760" cy="275784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C4F8B35-FF2A-D630-4083-5A198BDCD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9783" y="2137395"/>
            <a:ext cx="3631096" cy="275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49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406CA-F744-53B8-4889-BE2511A1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Hiperparâmetros</a:t>
            </a:r>
            <a:r>
              <a:rPr lang="pt-PT" dirty="0"/>
              <a:t> Otimizados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FCF4606-0E47-F216-3676-FCBFBEE4C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Cinco </a:t>
            </a:r>
            <a:r>
              <a:rPr lang="pt-PT" dirty="0" err="1"/>
              <a:t>hiperparâmetros</a:t>
            </a:r>
            <a:r>
              <a:rPr lang="pt-PT" dirty="0"/>
              <a:t>:</a:t>
            </a:r>
          </a:p>
          <a:p>
            <a:r>
              <a:rPr lang="pt-PT" b="1" dirty="0" err="1"/>
              <a:t>Learning</a:t>
            </a:r>
            <a:r>
              <a:rPr lang="pt-PT" b="1" dirty="0"/>
              <a:t> Rate (0.0001 a 0.01)</a:t>
            </a:r>
            <a:endParaRPr lang="pt-PT" dirty="0"/>
          </a:p>
          <a:p>
            <a:r>
              <a:rPr lang="pt-PT" b="1" dirty="0" err="1"/>
              <a:t>Kernel</a:t>
            </a:r>
            <a:r>
              <a:rPr lang="pt-PT" b="1" dirty="0"/>
              <a:t> </a:t>
            </a:r>
            <a:r>
              <a:rPr lang="pt-PT" b="1" dirty="0" err="1"/>
              <a:t>Size</a:t>
            </a:r>
            <a:r>
              <a:rPr lang="pt-PT" b="1" dirty="0"/>
              <a:t> (3×3 ou 5×5)</a:t>
            </a:r>
            <a:endParaRPr lang="pt-PT" dirty="0"/>
          </a:p>
          <a:p>
            <a:r>
              <a:rPr lang="pt-PT" b="1" dirty="0" err="1"/>
              <a:t>Dropout</a:t>
            </a:r>
            <a:r>
              <a:rPr lang="pt-PT" b="1" dirty="0"/>
              <a:t> Bloco 1 (0.1 a 0.5)</a:t>
            </a:r>
            <a:endParaRPr lang="pt-PT" dirty="0"/>
          </a:p>
          <a:p>
            <a:r>
              <a:rPr lang="pt-PT" b="1" dirty="0" err="1"/>
              <a:t>Dropout</a:t>
            </a:r>
            <a:r>
              <a:rPr lang="pt-PT" b="1" dirty="0"/>
              <a:t> Bloco 2/3 (0.2 a 0.6)</a:t>
            </a:r>
            <a:endParaRPr lang="pt-PT" dirty="0"/>
          </a:p>
          <a:p>
            <a:r>
              <a:rPr lang="pt-PT" b="1" dirty="0" err="1"/>
              <a:t>Dropout</a:t>
            </a:r>
            <a:r>
              <a:rPr lang="pt-PT" b="1" dirty="0"/>
              <a:t> Camada Densa (0.3 a 0.7)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4415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AD72AA-026F-4CF9-B83E-8DC785A3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Configuração da Otimização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22DBEAB-0898-06C6-69AF-E66994281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/>
              <a:t>GWO:</a:t>
            </a:r>
            <a:endParaRPr lang="pt-PT" dirty="0"/>
          </a:p>
          <a:p>
            <a:r>
              <a:rPr lang="pt-PT" dirty="0"/>
              <a:t>10 lobos, 10 iterações.</a:t>
            </a:r>
          </a:p>
          <a:p>
            <a:r>
              <a:rPr lang="pt-PT" dirty="0"/>
              <a:t>Treino por solução: 70 épocas, </a:t>
            </a:r>
            <a:r>
              <a:rPr lang="pt-PT" dirty="0" err="1"/>
              <a:t>patience</a:t>
            </a:r>
            <a:r>
              <a:rPr lang="pt-PT" dirty="0"/>
              <a:t>=7.</a:t>
            </a:r>
          </a:p>
          <a:p>
            <a:pPr marL="0" indent="0">
              <a:buNone/>
            </a:pPr>
            <a:r>
              <a:rPr lang="pt-PT" b="1" dirty="0"/>
              <a:t>PSO:</a:t>
            </a:r>
            <a:endParaRPr lang="pt-PT" dirty="0"/>
          </a:p>
          <a:p>
            <a:r>
              <a:rPr lang="pt-PT" dirty="0"/>
              <a:t>10 partículas, 10 iterações.</a:t>
            </a:r>
          </a:p>
          <a:p>
            <a:r>
              <a:rPr lang="pt-PT" dirty="0"/>
              <a:t>Treino por solução: 70 épocas, </a:t>
            </a:r>
            <a:r>
              <a:rPr lang="pt-PT" dirty="0" err="1"/>
              <a:t>patience</a:t>
            </a:r>
            <a:r>
              <a:rPr lang="pt-PT" dirty="0"/>
              <a:t>=7.</a:t>
            </a:r>
          </a:p>
          <a:p>
            <a:r>
              <a:rPr lang="pt-PT" dirty="0"/>
              <a:t>Parâmetros: w=0.5, c1=1.5, c2=1.5.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90613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B8F4E-C24A-6CA2-EC65-CC75A0C1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Resultado da Otimização: GWO</a:t>
            </a:r>
            <a:br>
              <a:rPr lang="pt-PT" b="1" dirty="0"/>
            </a:br>
            <a:endParaRPr lang="pt-PT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2F160DD-3936-064C-3982-79B75B0B1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851" y="2144081"/>
            <a:ext cx="6174297" cy="36405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1067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F01BD-AF1F-19AA-87DE-2CAA6E93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Resultado da Otimização: PSO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298D2E9-CCD9-B0F2-8540-AE83D3991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851" y="2137714"/>
            <a:ext cx="6174297" cy="35569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6971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1BB2A-DA61-C461-1040-FA7E8BE91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Re-Treino</a:t>
            </a:r>
            <a:r>
              <a:rPr lang="pt-PT" dirty="0"/>
              <a:t> com </a:t>
            </a:r>
            <a:r>
              <a:rPr lang="pt-PT" dirty="0" err="1"/>
              <a:t>Hiperparâmetros</a:t>
            </a:r>
            <a:r>
              <a:rPr lang="pt-PT" dirty="0"/>
              <a:t> Otimizados com </a:t>
            </a:r>
            <a:r>
              <a:rPr lang="pt-PT" dirty="0" err="1"/>
              <a:t>gwo</a:t>
            </a:r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19EA67F-AC13-BBF6-40E1-82C7B976F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455" y="2300988"/>
            <a:ext cx="4548545" cy="2989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DEE7F5E-B8BA-1256-C675-B1C4CC365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758" y="2300988"/>
            <a:ext cx="4523660" cy="2989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438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C3926-40E5-AEFA-ECAB-F3A5BF906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Re-Treino</a:t>
            </a:r>
            <a:r>
              <a:rPr lang="pt-PT" dirty="0"/>
              <a:t> com </a:t>
            </a:r>
            <a:r>
              <a:rPr lang="pt-PT" dirty="0" err="1"/>
              <a:t>Hiperparâmetros</a:t>
            </a:r>
            <a:r>
              <a:rPr lang="pt-PT" dirty="0"/>
              <a:t> Otimizados com </a:t>
            </a:r>
            <a:r>
              <a:rPr lang="pt-PT" dirty="0" err="1"/>
              <a:t>pso</a:t>
            </a:r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FB7D3B0-7C2C-C136-F8FA-DCFD1805A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902" y="2305941"/>
            <a:ext cx="4502098" cy="29614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AD799C-F96C-7027-0A5F-B7DD24CD0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148" y="2305941"/>
            <a:ext cx="4493289" cy="296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1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16240-ABDD-BB09-2F80-CA7E5CBC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Resultados Finais GWO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F7E5531-ED1E-D86A-5297-79DBBD48B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941" y="2061147"/>
            <a:ext cx="4150410" cy="37775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AEE79FA-11D1-B949-9647-5F8898325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761" y="2061147"/>
            <a:ext cx="3855248" cy="37775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2750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6BE2D-41CE-D83C-9B85-186F476B6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Resultados Finais </a:t>
            </a:r>
            <a:r>
              <a:rPr lang="pt-PT" dirty="0" err="1"/>
              <a:t>pso</a:t>
            </a:r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C6559F-163D-3D14-F1D4-9D7EE2861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583" y="2068643"/>
            <a:ext cx="4112174" cy="37721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665D89A-EAF0-5068-A3ED-5C65EB6E4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270" y="2068643"/>
            <a:ext cx="3832068" cy="377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37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AAD5E-3F06-2610-0DE9-D6365799D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Comparação Final GWO </a:t>
            </a:r>
            <a:r>
              <a:rPr lang="pt-PT" dirty="0" err="1"/>
              <a:t>vs</a:t>
            </a:r>
            <a:r>
              <a:rPr lang="pt-PT" dirty="0"/>
              <a:t> </a:t>
            </a:r>
            <a:r>
              <a:rPr lang="pt-PT" dirty="0" err="1"/>
              <a:t>pso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47A3604-CAD8-37D9-F5F2-0901793A3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PT" b="1" dirty="0"/>
              <a:t>GWO:</a:t>
            </a:r>
            <a:endParaRPr lang="pt-PT" dirty="0"/>
          </a:p>
          <a:p>
            <a:r>
              <a:rPr lang="pt-PT" dirty="0"/>
              <a:t>Maior estabilidade</a:t>
            </a:r>
          </a:p>
          <a:p>
            <a:r>
              <a:rPr lang="pt-PT" dirty="0"/>
              <a:t>Menos oscilações</a:t>
            </a:r>
          </a:p>
          <a:p>
            <a:r>
              <a:rPr lang="pt-PT" dirty="0"/>
              <a:t>Melhor convergência</a:t>
            </a:r>
          </a:p>
          <a:p>
            <a:r>
              <a:rPr lang="pt-PT" dirty="0"/>
              <a:t>Melhores valores nas métricas</a:t>
            </a:r>
          </a:p>
          <a:p>
            <a:r>
              <a:rPr lang="pt-PT" dirty="0"/>
              <a:t>Melhor capacidade de discriminação entre classes</a:t>
            </a:r>
          </a:p>
          <a:p>
            <a:pPr marL="0" indent="0">
              <a:buNone/>
            </a:pPr>
            <a:r>
              <a:rPr lang="pt-PT" b="1" dirty="0"/>
              <a:t>PSO:</a:t>
            </a:r>
            <a:endParaRPr lang="pt-PT" dirty="0"/>
          </a:p>
          <a:p>
            <a:r>
              <a:rPr lang="pt-PT" dirty="0"/>
              <a:t>Também melhorou face à CNN inicial</a:t>
            </a:r>
          </a:p>
          <a:p>
            <a:r>
              <a:rPr lang="pt-PT" dirty="0"/>
              <a:t>Menor consistência</a:t>
            </a:r>
          </a:p>
          <a:p>
            <a:r>
              <a:rPr lang="pt-PT" dirty="0"/>
              <a:t>Maior sensibilidade aos parâmetros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28608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0A21E-97E7-F28A-3839-A47F3397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Impacto Real da Otimização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D31AC6B-0E55-3CE4-2599-A78CE82FE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CNN inicial: </a:t>
            </a:r>
            <a:r>
              <a:rPr lang="pt-PT" b="1" dirty="0"/>
              <a:t>65% </a:t>
            </a:r>
            <a:r>
              <a:rPr lang="pt-PT" b="1" dirty="0" err="1"/>
              <a:t>accuracy</a:t>
            </a:r>
            <a:endParaRPr lang="pt-PT" dirty="0"/>
          </a:p>
          <a:p>
            <a:r>
              <a:rPr lang="pt-PT" dirty="0"/>
              <a:t>CNN otimizada (PSO/GWO): </a:t>
            </a:r>
            <a:r>
              <a:rPr lang="pt-PT" b="1" dirty="0"/>
              <a:t>79–83% </a:t>
            </a:r>
            <a:r>
              <a:rPr lang="pt-PT" b="1" dirty="0" err="1"/>
              <a:t>accuracy</a:t>
            </a:r>
            <a:endParaRPr lang="pt-PT" dirty="0"/>
          </a:p>
          <a:p>
            <a:r>
              <a:rPr lang="pt-PT" dirty="0"/>
              <a:t>Melhoria muito significativa</a:t>
            </a:r>
          </a:p>
          <a:p>
            <a:r>
              <a:rPr lang="pt-PT" dirty="0"/>
              <a:t>Algoritmos </a:t>
            </a:r>
            <a:r>
              <a:rPr lang="pt-PT" dirty="0" err="1"/>
              <a:t>swarm</a:t>
            </a:r>
            <a:r>
              <a:rPr lang="pt-PT" dirty="0"/>
              <a:t> encontraram </a:t>
            </a:r>
            <a:r>
              <a:rPr lang="pt-PT" dirty="0" err="1"/>
              <a:t>hiperparâmetros</a:t>
            </a:r>
            <a:r>
              <a:rPr lang="pt-PT" dirty="0"/>
              <a:t> impossíveis de obter manualmente</a:t>
            </a:r>
          </a:p>
          <a:p>
            <a:r>
              <a:rPr lang="pt-PT" dirty="0"/>
              <a:t>A otimização automática mostrou ser um componente fundamental neste projeto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89551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91AA4E-BF93-EABE-CD73-F22CCC99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Complexidade do </a:t>
            </a:r>
            <a:r>
              <a:rPr lang="pt-PT" dirty="0" err="1"/>
              <a:t>Dataset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ECD45AF-0D80-2C9F-32FB-940143C9F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Classes de carros visualmente semelhantes → confusão natural.</a:t>
            </a:r>
          </a:p>
          <a:p>
            <a:r>
              <a:rPr lang="pt-PT" dirty="0"/>
              <a:t>Exemplos ambíguos (ex.: descapotáveis com capota rígida fechada → parecem coupé).</a:t>
            </a:r>
          </a:p>
          <a:p>
            <a:r>
              <a:rPr lang="pt-PT" dirty="0"/>
              <a:t>Algumas imagens mal catalogadas (SUV na pasta Coupé).</a:t>
            </a:r>
          </a:p>
          <a:p>
            <a:r>
              <a:rPr lang="pt-PT" dirty="0"/>
              <a:t>Ruído: texto sobreposto, ângulos estranhos, objetos a tapar o carro.</a:t>
            </a:r>
          </a:p>
          <a:p>
            <a:r>
              <a:rPr lang="pt-PT" dirty="0"/>
              <a:t>Até à fase 3 → limpeza e filtragem do </a:t>
            </a:r>
            <a:r>
              <a:rPr lang="pt-PT" dirty="0" err="1"/>
              <a:t>dataset</a:t>
            </a:r>
            <a:r>
              <a:rPr lang="pt-PT" dirty="0"/>
              <a:t> (diminuição do n.º de imagens).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4675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DA56C-8002-DE5D-21E3-921C6F01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Conclusões Gerais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60C4AE1-BFA8-9A0C-A357-30D3D90A0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GWO apresentou desempenho superior e mais robusto.</a:t>
            </a:r>
          </a:p>
          <a:p>
            <a:r>
              <a:rPr lang="pt-PT" dirty="0"/>
              <a:t>PSO melhorou, mas foi menos consistente.</a:t>
            </a:r>
          </a:p>
          <a:p>
            <a:r>
              <a:rPr lang="pt-PT" dirty="0"/>
              <a:t>Ambos os métodos melhoraram drasticamente a CNN inicial.</a:t>
            </a:r>
          </a:p>
          <a:p>
            <a:r>
              <a:rPr lang="pt-PT" dirty="0" err="1"/>
              <a:t>Swarm</a:t>
            </a:r>
            <a:r>
              <a:rPr lang="pt-PT" dirty="0"/>
              <a:t> </a:t>
            </a:r>
            <a:r>
              <a:rPr lang="pt-PT" dirty="0" err="1"/>
              <a:t>Intelligence</a:t>
            </a:r>
            <a:r>
              <a:rPr lang="pt-PT" dirty="0"/>
              <a:t> mostrou grande eficácia para otimização de </a:t>
            </a:r>
            <a:r>
              <a:rPr lang="pt-PT" dirty="0" err="1"/>
              <a:t>hiperparâmetros</a:t>
            </a:r>
            <a:r>
              <a:rPr lang="pt-P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1207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DA3EB-9352-94B7-310A-757D7B3B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Slide para o </a:t>
            </a:r>
            <a:r>
              <a:rPr lang="pt-PT" dirty="0" err="1"/>
              <a:t>github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4665E86-E64F-A131-4E35-525129B3C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Depois de entregar a meta 2, fez-se uma limpeza ao </a:t>
            </a:r>
            <a:r>
              <a:rPr lang="pt-PT" dirty="0" err="1"/>
              <a:t>dataset</a:t>
            </a:r>
            <a:r>
              <a:rPr lang="pt-PT" dirty="0"/>
              <a:t>, voltou-se a otimizar e a </a:t>
            </a:r>
            <a:r>
              <a:rPr lang="pt-PT" dirty="0" err="1"/>
              <a:t>re-treinar</a:t>
            </a:r>
            <a:r>
              <a:rPr lang="pt-PT" dirty="0"/>
              <a:t> </a:t>
            </a:r>
            <a:r>
              <a:rPr lang="pt-PT" dirty="0" err="1"/>
              <a:t>dp</a:t>
            </a:r>
            <a:r>
              <a:rPr lang="pt-PT" dirty="0"/>
              <a:t>, tendo 0.86533333 de </a:t>
            </a:r>
            <a:r>
              <a:rPr lang="pt-PT" dirty="0" err="1"/>
              <a:t>acc</a:t>
            </a:r>
            <a:r>
              <a:rPr lang="pt-PT" dirty="0"/>
              <a:t> no teste (trocou-se a classe </a:t>
            </a:r>
            <a:r>
              <a:rPr lang="pt-PT" dirty="0" err="1"/>
              <a:t>hatcback</a:t>
            </a:r>
            <a:r>
              <a:rPr lang="pt-PT" dirty="0"/>
              <a:t> por van)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0F10FE-ED0E-41C8-6373-84E7391D6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926" y="3235067"/>
            <a:ext cx="2646961" cy="260994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0142A96-614C-9B4D-131D-FC8684581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235" y="3246765"/>
            <a:ext cx="2958110" cy="259824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DE50D28-C5BA-713F-FA89-57756A23A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693" y="3235067"/>
            <a:ext cx="2958110" cy="261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3832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{8B42C8C8-AADD-4AEA-A109-DB2F98750917}TFc986dd65-aaf0-4d5c-bef9-9c391ee05f7be76530a6-0ca6c874b13b</Template>
  <TotalTime>1662</TotalTime>
  <Words>1682</Words>
  <Application>Microsoft Office PowerPoint</Application>
  <PresentationFormat>Ecrã Panorâmico</PresentationFormat>
  <Paragraphs>189</Paragraphs>
  <Slides>23</Slides>
  <Notes>18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23</vt:i4>
      </vt:variant>
    </vt:vector>
  </HeadingPairs>
  <TitlesOfParts>
    <vt:vector size="27" baseType="lpstr">
      <vt:lpstr>Arial</vt:lpstr>
      <vt:lpstr>Calibri</vt:lpstr>
      <vt:lpstr>Gill Sans MT</vt:lpstr>
      <vt:lpstr>Galeria</vt:lpstr>
      <vt:lpstr>Classificação de carrocerias de automóveis </vt:lpstr>
      <vt:lpstr>Enquadramento do Trabalho</vt:lpstr>
      <vt:lpstr>O que é Inteligência Swarm</vt:lpstr>
      <vt:lpstr>PSO (Particle Swarm Optimization)</vt:lpstr>
      <vt:lpstr>GWO (Grey Wolf Optimizer)</vt:lpstr>
      <vt:lpstr>GWO - Como Funciona</vt:lpstr>
      <vt:lpstr>Otimização da função Benchmark:  Ackley</vt:lpstr>
      <vt:lpstr>Resultados no Ackley</vt:lpstr>
      <vt:lpstr>Arquitetura da CNN Inicial (Fase I)</vt:lpstr>
      <vt:lpstr>Arquitetura da CNN aTUALIZADA (Fase II)</vt:lpstr>
      <vt:lpstr>Hiperparâmetros Otimizados</vt:lpstr>
      <vt:lpstr>Configuração da Otimização</vt:lpstr>
      <vt:lpstr>Resultado da Otimização: GWO </vt:lpstr>
      <vt:lpstr>Resultado da Otimização: PSO</vt:lpstr>
      <vt:lpstr>Re-Treino com Hiperparâmetros Otimizados com gwo</vt:lpstr>
      <vt:lpstr>Re-Treino com Hiperparâmetros Otimizados com pso</vt:lpstr>
      <vt:lpstr>Resultados Finais GWO</vt:lpstr>
      <vt:lpstr>Resultados Finais pso</vt:lpstr>
      <vt:lpstr>Comparação Final GWO vs pso</vt:lpstr>
      <vt:lpstr>Impacto Real da Otimização</vt:lpstr>
      <vt:lpstr>Complexidade do Dataset</vt:lpstr>
      <vt:lpstr>Conclusões Gerais</vt:lpstr>
      <vt:lpstr>Slide para o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Saraiva</dc:creator>
  <cp:lastModifiedBy>Pedro Saraiva</cp:lastModifiedBy>
  <cp:revision>117</cp:revision>
  <cp:lastPrinted>2025-11-17T08:22:01Z</cp:lastPrinted>
  <dcterms:created xsi:type="dcterms:W3CDTF">2025-09-23T01:41:49Z</dcterms:created>
  <dcterms:modified xsi:type="dcterms:W3CDTF">2025-11-21T04:40:52Z</dcterms:modified>
</cp:coreProperties>
</file>